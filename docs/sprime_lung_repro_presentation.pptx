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Rounded Rectangle 1"/>
          <p:cNvSpPr/>
          <p:nvPr/>
        </p:nvSpPr>
        <p:spPr>
          <a:xfrm>
            <a:off x="731520" y="731520"/>
            <a:ext cx="10728655" cy="2011680"/>
          </a:xfrm>
          <a:prstGeom prst="roundRect">
            <a:avLst/>
          </a:prstGeom>
          <a:solidFill>
            <a:srgbClr val="0F172A"/>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914400"/>
            <a:ext cx="9997135" cy="1645920"/>
          </a:xfrm>
          <a:prstGeom prst="rect">
            <a:avLst/>
          </a:prstGeom>
          <a:noFill/>
        </p:spPr>
        <p:txBody>
          <a:bodyPr wrap="square">
            <a:spAutoFit/>
          </a:bodyPr>
          <a:lstStyle/>
          <a:p>
            <a:pPr>
              <a:defRPr sz="2800" b="1">
                <a:solidFill>
                  <a:srgbClr val="06B6D4"/>
                </a:solidFill>
              </a:defRPr>
            </a:pPr>
            <a:r>
              <a:t>S′ Pharmacogenomics &amp; Reproducible Drug Response Analysis</a:t>
            </a:r>
          </a:p>
          <a:p>
            <a:pPr>
              <a:spcBef>
                <a:spcPts val="800"/>
              </a:spcBef>
              <a:defRPr sz="1600">
                <a:solidFill>
                  <a:srgbClr val="F8FAFC"/>
                </a:solidFill>
              </a:defRPr>
            </a:pPr>
            <a:r>
              <a:t>Evaluation of Genotype-Selective Vulnerabilities, Statistical Controls, and Feature Engineering</a:t>
            </a:r>
          </a:p>
          <a:p>
            <a:pPr>
              <a:spcBef>
                <a:spcPts val="1200"/>
              </a:spcBef>
              <a:defRPr sz="1200">
                <a:solidFill>
                  <a:srgbClr val="F59E0B"/>
                </a:solidFill>
              </a:defRPr>
            </a:pPr>
            <a:r>
              <a:t>Repository: sprime-lung-repro  |  Deterministic Fixed Seed: 20260811  |  Dataset: PRISM 19Q4 &amp; DepMap 24Q2</a:t>
            </a:r>
          </a:p>
        </p:txBody>
      </p:sp>
      <p:sp>
        <p:nvSpPr>
          <p:cNvPr id="4" name="Rounded Rectangle 3"/>
          <p:cNvSpPr/>
          <p:nvPr/>
        </p:nvSpPr>
        <p:spPr>
          <a:xfrm>
            <a:off x="731520" y="3017520"/>
            <a:ext cx="5212080" cy="320040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3200400"/>
            <a:ext cx="4663440" cy="2834640"/>
          </a:xfrm>
          <a:prstGeom prst="rect">
            <a:avLst/>
          </a:prstGeom>
          <a:noFill/>
        </p:spPr>
        <p:txBody>
          <a:bodyPr wrap="square">
            <a:spAutoFit/>
          </a:bodyPr>
          <a:lstStyle/>
          <a:p>
            <a:pPr>
              <a:defRPr sz="1800" b="1">
                <a:solidFill>
                  <a:srgbClr val="06B6D4"/>
                </a:solidFill>
              </a:defRPr>
            </a:pPr>
            <a:r>
              <a:t>🎯 Core Research Objective</a:t>
            </a:r>
          </a:p>
          <a:p>
            <a:pPr>
              <a:spcBef>
                <a:spcPts val="1000"/>
              </a:spcBef>
              <a:defRPr sz="1300">
                <a:solidFill>
                  <a:srgbClr val="94A3B8"/>
                </a:solidFill>
              </a:defRPr>
            </a:pPr>
            <a:r>
              <a:t>Evaluate whether proposed candidate synthetic lethal (SL) hit lists stand up against statistical controls across PTEN, CDKN2A, RB1, and TP53 gene backgrounds in 94 lung cancer cell lines.</a:t>
            </a:r>
          </a:p>
        </p:txBody>
      </p:sp>
      <p:sp>
        <p:nvSpPr>
          <p:cNvPr id="6" name="Rounded Rectangle 5"/>
          <p:cNvSpPr/>
          <p:nvPr/>
        </p:nvSpPr>
        <p:spPr>
          <a:xfrm>
            <a:off x="6248095" y="3017520"/>
            <a:ext cx="5212080" cy="3200400"/>
          </a:xfrm>
          <a:prstGeom prst="roundRect">
            <a:avLst/>
          </a:prstGeom>
          <a:solidFill>
            <a:srgbClr val="1E1428"/>
          </a:solidFill>
          <a:ln w="1270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522415" y="3200400"/>
            <a:ext cx="4663440" cy="2834640"/>
          </a:xfrm>
          <a:prstGeom prst="rect">
            <a:avLst/>
          </a:prstGeom>
          <a:noFill/>
        </p:spPr>
        <p:txBody>
          <a:bodyPr wrap="square">
            <a:spAutoFit/>
          </a:bodyPr>
          <a:lstStyle/>
          <a:p>
            <a:pPr>
              <a:defRPr sz="1800" b="1">
                <a:solidFill>
                  <a:srgbClr val="F43F5E"/>
                </a:solidFill>
              </a:defRPr>
            </a:pPr>
            <a:r>
              <a:t>⚠️ Headline Scientific Finding</a:t>
            </a:r>
          </a:p>
          <a:p>
            <a:pPr>
              <a:spcBef>
                <a:spcPts val="1000"/>
              </a:spcBef>
              <a:defRPr sz="1300">
                <a:solidFill>
                  <a:srgbClr val="F8FAFC"/>
                </a:solidFill>
              </a:defRPr>
            </a:pPr>
            <a:r>
              <a:t>Most proposed candidate hit lists are statistically indistinguishable from random background noise:</a:t>
            </a:r>
            <a:br/>
            <a:r>
              <a:t>• PTEN (FDR 1.00), CDKN2A (FDR 0.87), TP53 (FDR 1.27) fail permutation nulls.</a:t>
            </a:r>
            <a:br/>
            <a:r>
              <a:t>• Only RB1 (FDR 0.68) exhibits marginal signal.</a:t>
            </a:r>
            <a:br/>
            <a:r>
              <a:t>• Requiring whole 95% bootstrap CI ≤ −2.0 eliminates 73% to 94% of candidates.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731520" y="457200"/>
            <a:ext cx="10728655" cy="1005840"/>
          </a:xfrm>
          <a:prstGeom prst="rect">
            <a:avLst/>
          </a:prstGeom>
          <a:noFill/>
        </p:spPr>
        <p:txBody>
          <a:bodyPr wrap="square" lIns="0" tIns="0" rIns="0" bIns="0">
            <a:spAutoFit/>
          </a:bodyPr>
          <a:lstStyle/>
          <a:p>
            <a:pPr>
              <a:defRPr sz="2400" b="1">
                <a:solidFill>
                  <a:srgbClr val="06B6D4"/>
                </a:solidFill>
                <a:latin typeface="Arial"/>
              </a:defRPr>
            </a:pPr>
            <a:r>
              <a:t>Why Standard Summaries Fail on Screening Data</a:t>
            </a:r>
          </a:p>
          <a:p>
            <a:pPr>
              <a:spcBef>
                <a:spcPts val="400"/>
              </a:spcBef>
              <a:defRPr sz="1300">
                <a:solidFill>
                  <a:srgbClr val="94A3B8"/>
                </a:solidFill>
                <a:latin typeface="Arial"/>
              </a:defRPr>
            </a:pPr>
            <a:r>
              <a:t>Limitations of Absolute IC50 and Area Under Curve (AUC) on High-Throughput Dose-Response Curves</a:t>
            </a:r>
          </a:p>
        </p:txBody>
      </p:sp>
      <p:sp>
        <p:nvSpPr>
          <p:cNvPr id="3" name="Rounded Rectangle 2"/>
          <p:cNvSpPr/>
          <p:nvPr/>
        </p:nvSpPr>
        <p:spPr>
          <a:xfrm>
            <a:off x="731520" y="1645920"/>
            <a:ext cx="5212080" cy="4389120"/>
          </a:xfrm>
          <a:prstGeom prst="roundRect">
            <a:avLst/>
          </a:prstGeom>
          <a:solidFill>
            <a:srgbClr val="19141E"/>
          </a:solidFill>
          <a:ln w="1270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828800"/>
            <a:ext cx="4663440" cy="4023360"/>
          </a:xfrm>
          <a:prstGeom prst="rect">
            <a:avLst/>
          </a:prstGeom>
          <a:noFill/>
        </p:spPr>
        <p:txBody>
          <a:bodyPr wrap="square">
            <a:spAutoFit/>
          </a:bodyPr>
          <a:lstStyle/>
          <a:p>
            <a:pPr>
              <a:defRPr sz="1800" b="1">
                <a:solidFill>
                  <a:srgbClr val="F43F5E"/>
                </a:solidFill>
              </a:defRPr>
            </a:pPr>
            <a:r>
              <a:t>❌ Absolute IC50 Failures</a:t>
            </a:r>
          </a:p>
          <a:p>
            <a:pPr>
              <a:spcBef>
                <a:spcPts val="1200"/>
              </a:spcBef>
              <a:defRPr sz="1300">
                <a:solidFill>
                  <a:srgbClr val="94A3B8"/>
                </a:solidFill>
              </a:defRPr>
            </a:pPr>
            <a:r>
              <a:t>• High Missingness: ~49% of screen fits have lower asymptote &gt; 50% (never reach 50% kill).</a:t>
            </a:r>
          </a:p>
          <a:p>
            <a:pPr>
              <a:spcBef>
                <a:spcPts val="1200"/>
              </a:spcBef>
              <a:defRPr sz="1300">
                <a:solidFill>
                  <a:srgbClr val="94A3B8"/>
                </a:solidFill>
              </a:defRPr>
            </a:pPr>
            <a:r>
              <a:t>• Mathematically Undefined: Absolute IC50 evaluates to NaN or unidentifiable infinity.</a:t>
            </a:r>
          </a:p>
          <a:p>
            <a:pPr>
              <a:spcBef>
                <a:spcPts val="1200"/>
              </a:spcBef>
              <a:defRPr sz="1300">
                <a:solidFill>
                  <a:srgbClr val="94A3B8"/>
                </a:solidFill>
              </a:defRPr>
            </a:pPr>
            <a:r>
              <a:t>• Discards Non-Canonical Curves: Standard IC50 cannot represent partial killing or flat curves.</a:t>
            </a:r>
          </a:p>
        </p:txBody>
      </p:sp>
      <p:sp>
        <p:nvSpPr>
          <p:cNvPr id="5" name="Rounded Rectangle 4"/>
          <p:cNvSpPr/>
          <p:nvPr/>
        </p:nvSpPr>
        <p:spPr>
          <a:xfrm>
            <a:off x="6248095" y="1645920"/>
            <a:ext cx="5212080" cy="4389120"/>
          </a:xfrm>
          <a:prstGeom prst="roundRect">
            <a:avLst/>
          </a:prstGeom>
          <a:solidFill>
            <a:srgbClr val="0F1928"/>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22415" y="1828800"/>
            <a:ext cx="4663440" cy="4023360"/>
          </a:xfrm>
          <a:prstGeom prst="rect">
            <a:avLst/>
          </a:prstGeom>
          <a:noFill/>
        </p:spPr>
        <p:txBody>
          <a:bodyPr wrap="square">
            <a:spAutoFit/>
          </a:bodyPr>
          <a:lstStyle/>
          <a:p>
            <a:pPr>
              <a:defRPr sz="1800" b="1">
                <a:solidFill>
                  <a:srgbClr val="06B6D4"/>
                </a:solidFill>
              </a:defRPr>
            </a:pPr>
            <a:r>
              <a:t>💡 The S′ Operational Solution</a:t>
            </a:r>
          </a:p>
          <a:p>
            <a:pPr>
              <a:spcBef>
                <a:spcPts val="1200"/>
              </a:spcBef>
              <a:defRPr sz="1300">
                <a:solidFill>
                  <a:srgbClr val="F8FAFC"/>
                </a:solidFill>
              </a:defRPr>
            </a:pPr>
            <a:r>
              <a:t>• AUC Directionality Loss: AUC cannot distinguish partial killing from cell proliferation (y_max &gt; 100%).</a:t>
            </a:r>
          </a:p>
          <a:p>
            <a:pPr>
              <a:spcBef>
                <a:spcPts val="1200"/>
              </a:spcBef>
              <a:defRPr sz="1300">
                <a:solidFill>
                  <a:srgbClr val="F8FAFC"/>
                </a:solidFill>
              </a:defRPr>
            </a:pPr>
            <a:r>
              <a:t>• S′ Formula: S′ = asinh((Emax / EC50) × 1 µM).</a:t>
            </a:r>
          </a:p>
          <a:p>
            <a:pPr>
              <a:spcBef>
                <a:spcPts val="1200"/>
              </a:spcBef>
              <a:defRPr sz="1300">
                <a:solidFill>
                  <a:srgbClr val="F8FAFC"/>
                </a:solidFill>
              </a:defRPr>
            </a:pPr>
            <a:r>
              <a:t>• Continuous &amp; Signed: Combines response span (Emax) and relative potency (EC50). S′ &gt; 0 for inhibition, S′ &lt; 0 for disinhibition.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731520" y="457200"/>
            <a:ext cx="10728655" cy="1005840"/>
          </a:xfrm>
          <a:prstGeom prst="rect">
            <a:avLst/>
          </a:prstGeom>
          <a:noFill/>
        </p:spPr>
        <p:txBody>
          <a:bodyPr wrap="square" lIns="0" tIns="0" rIns="0" bIns="0">
            <a:spAutoFit/>
          </a:bodyPr>
          <a:lstStyle/>
          <a:p>
            <a:pPr>
              <a:defRPr sz="2400" b="1">
                <a:solidFill>
                  <a:srgbClr val="06B6D4"/>
                </a:solidFill>
                <a:latin typeface="Arial"/>
              </a:defRPr>
            </a:pPr>
            <a:r>
              <a:t>Mathematical Formulation of S′ &amp; ΔpS′ Threshold</a:t>
            </a:r>
          </a:p>
          <a:p>
            <a:pPr>
              <a:spcBef>
                <a:spcPts val="400"/>
              </a:spcBef>
              <a:defRPr sz="1300">
                <a:solidFill>
                  <a:srgbClr val="94A3B8"/>
                </a:solidFill>
                <a:latin typeface="Arial"/>
              </a:defRPr>
            </a:pPr>
            <a:r>
              <a:t>Operational Index Definition and Pharmacologic Convergence Proof</a:t>
            </a:r>
          </a:p>
        </p:txBody>
      </p:sp>
      <p:sp>
        <p:nvSpPr>
          <p:cNvPr id="3" name="Rounded Rectangle 2"/>
          <p:cNvSpPr/>
          <p:nvPr/>
        </p:nvSpPr>
        <p:spPr>
          <a:xfrm>
            <a:off x="731520" y="1645920"/>
            <a:ext cx="10728655" cy="2011680"/>
          </a:xfrm>
          <a:prstGeom prst="roundRect">
            <a:avLst/>
          </a:prstGeom>
          <a:solidFill>
            <a:srgbClr val="0F172A"/>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828800"/>
            <a:ext cx="9997135" cy="1645920"/>
          </a:xfrm>
          <a:prstGeom prst="rect">
            <a:avLst/>
          </a:prstGeom>
          <a:noFill/>
        </p:spPr>
        <p:txBody>
          <a:bodyPr wrap="square">
            <a:spAutoFit/>
          </a:bodyPr>
          <a:lstStyle/>
          <a:p>
            <a:pPr>
              <a:defRPr sz="2200" b="1">
                <a:solidFill>
                  <a:srgbClr val="06B6D4"/>
                </a:solidFill>
              </a:defRPr>
            </a:pPr>
            <a:r>
              <a:t>S′ = asinh( ( (y_max - y_min) × 100 / EC50 ) × 1 µM )</a:t>
            </a:r>
          </a:p>
          <a:p>
            <a:pPr>
              <a:spcBef>
                <a:spcPts val="1000"/>
              </a:spcBef>
              <a:defRPr sz="1400">
                <a:solidFill>
                  <a:srgbClr val="F8FAFC"/>
                </a:solidFill>
              </a:defRPr>
            </a:pPr>
            <a:r>
              <a:t>Pharmacologic Proof: Over the active response regime (pS′ ≳ 1), a fixed gap ΔpS′ = pS′_WT − pS′_Mut ≤ −2.0 mathematically converges to requiring a ≥ e² ≈ 7.389× greater potency-efficacy ratio in mutant cells vs. wild-type cells.</a:t>
            </a:r>
          </a:p>
        </p:txBody>
      </p:sp>
      <p:sp>
        <p:nvSpPr>
          <p:cNvPr id="5" name="Rounded Rectangle 4"/>
          <p:cNvSpPr/>
          <p:nvPr/>
        </p:nvSpPr>
        <p:spPr>
          <a:xfrm>
            <a:off x="731520" y="3931920"/>
            <a:ext cx="10728655" cy="2103120"/>
          </a:xfrm>
          <a:prstGeom prst="roundRect">
            <a:avLst/>
          </a:prstGeom>
          <a:solidFill>
            <a:srgbClr val="1E293B"/>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97280" y="4114800"/>
            <a:ext cx="9997135" cy="1737360"/>
          </a:xfrm>
          <a:prstGeom prst="rect">
            <a:avLst/>
          </a:prstGeom>
          <a:noFill/>
        </p:spPr>
        <p:txBody>
          <a:bodyPr wrap="square">
            <a:spAutoFit/>
          </a:bodyPr>
          <a:lstStyle/>
          <a:p>
            <a:pPr>
              <a:defRPr sz="1800" b="1">
                <a:solidFill>
                  <a:srgbClr val="F59E0B"/>
                </a:solidFill>
              </a:defRPr>
            </a:pPr>
            <a:r>
              <a:t>📌 Corrected Worked Example Anchor (Doxorubicin / A549)</a:t>
            </a:r>
          </a:p>
          <a:p>
            <a:pPr>
              <a:spcBef>
                <a:spcPts val="800"/>
              </a:spcBef>
              <a:defRPr sz="1300">
                <a:solidFill>
                  <a:srgbClr val="94A3B8"/>
                </a:solidFill>
              </a:defRPr>
            </a:pPr>
            <a:r>
              <a:t>• Inputs: y_max = 100%, y_min = 0.103%, EC50 = 0.24491 µM, C_ref = 1.0 µM.</a:t>
            </a:r>
            <a:br/>
            <a:r>
              <a:t>• Calculated S′ = 6.7040 (correcting the original manuscript's erroneous 7.382 value).</a:t>
            </a:r>
            <a:br/>
            <a:r>
              <a:t>• Assertion is frozen as a Tier 0 synthetic unit test in tests/test_synthetic.py.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731520" y="457200"/>
            <a:ext cx="10728655" cy="1005840"/>
          </a:xfrm>
          <a:prstGeom prst="rect">
            <a:avLst/>
          </a:prstGeom>
          <a:noFill/>
        </p:spPr>
        <p:txBody>
          <a:bodyPr wrap="square" lIns="0" tIns="0" rIns="0" bIns="0">
            <a:spAutoFit/>
          </a:bodyPr>
          <a:lstStyle/>
          <a:p>
            <a:pPr>
              <a:defRPr sz="2400" b="1">
                <a:solidFill>
                  <a:srgbClr val="06B6D4"/>
                </a:solidFill>
                <a:latin typeface="Arial"/>
              </a:defRPr>
            </a:pPr>
            <a:r>
              <a:t>Control 1: Label-Permutation Null Model</a:t>
            </a:r>
          </a:p>
          <a:p>
            <a:pPr>
              <a:spcBef>
                <a:spcPts val="400"/>
              </a:spcBef>
              <a:defRPr sz="1300">
                <a:solidFill>
                  <a:srgbClr val="94A3B8"/>
                </a:solidFill>
                <a:latin typeface="Arial"/>
              </a:defRPr>
            </a:pPr>
            <a:r>
              <a:t>2,000 Genotype Shuffles Reveal That Candidate Hit Lists Sit at the Noise Floor</a:t>
            </a:r>
          </a:p>
        </p:txBody>
      </p:sp>
      <p:graphicFrame>
        <p:nvGraphicFramePr>
          <p:cNvPr id="3" name="Table 2"/>
          <p:cNvGraphicFramePr>
            <a:graphicFrameLocks noGrp="1"/>
          </p:cNvGraphicFramePr>
          <p:nvPr/>
        </p:nvGraphicFramePr>
        <p:xfrm>
          <a:off x="731520" y="1645920"/>
          <a:ext cx="10728655" cy="2926080"/>
        </p:xfrm>
        <a:graphic>
          <a:graphicData uri="http://schemas.openxmlformats.org/drawingml/2006/table">
            <a:tbl>
              <a:tblPr firstRow="1" bandRow="1">
                <a:tableStyleId>{5C22544A-7EE6-4342-B048-85BDC9FD1C3A}</a:tableStyleId>
              </a:tblPr>
              <a:tblGrid>
                <a:gridCol w="1788109"/>
                <a:gridCol w="1788109"/>
                <a:gridCol w="1788109"/>
                <a:gridCol w="1788109"/>
                <a:gridCol w="1788109"/>
                <a:gridCol w="1788110"/>
              </a:tblGrid>
              <a:tr h="585216">
                <a:tc>
                  <a:txBody>
                    <a:bodyPr/>
                    <a:lstStyle/>
                    <a:p>
                      <a:pPr>
                        <a:defRPr sz="1200" b="1">
                          <a:solidFill>
                            <a:srgbClr val="06B6D4"/>
                          </a:solidFill>
                        </a:defRPr>
                      </a:pPr>
                      <a:r>
                        <a:t>Gene</a:t>
                      </a:r>
                    </a:p>
                  </a:txBody>
                  <a:tcPr>
                    <a:solidFill>
                      <a:srgbClr val="0F172A"/>
                    </a:solidFill>
                  </a:tcPr>
                </a:tc>
                <a:tc>
                  <a:txBody>
                    <a:bodyPr/>
                    <a:lstStyle/>
                    <a:p>
                      <a:pPr>
                        <a:defRPr sz="1200" b="1">
                          <a:solidFill>
                            <a:srgbClr val="06B6D4"/>
                          </a:solidFill>
                        </a:defRPr>
                      </a:pPr>
                      <a:r>
                        <a:t>Tested</a:t>
                      </a:r>
                    </a:p>
                  </a:txBody>
                  <a:tcPr>
                    <a:solidFill>
                      <a:srgbClr val="0F172A"/>
                    </a:solidFill>
                  </a:tcPr>
                </a:tc>
                <a:tc>
                  <a:txBody>
                    <a:bodyPr/>
                    <a:lstStyle/>
                    <a:p>
                      <a:pPr>
                        <a:defRPr sz="1200" b="1">
                          <a:solidFill>
                            <a:srgbClr val="06B6D4"/>
                          </a:solidFill>
                        </a:defRPr>
                      </a:pPr>
                      <a:r>
                        <a:t>Raw Candidates (ΔpS′ ≤ −2)</a:t>
                      </a:r>
                    </a:p>
                  </a:txBody>
                  <a:tcPr>
                    <a:solidFill>
                      <a:srgbClr val="0F172A"/>
                    </a:solidFill>
                  </a:tcPr>
                </a:tc>
                <a:tc>
                  <a:txBody>
                    <a:bodyPr/>
                    <a:lstStyle/>
                    <a:p>
                      <a:pPr>
                        <a:defRPr sz="1200" b="1">
                          <a:solidFill>
                            <a:srgbClr val="06B6D4"/>
                          </a:solidFill>
                        </a:defRPr>
                      </a:pPr>
                      <a:r>
                        <a:t>Null Mean</a:t>
                      </a:r>
                    </a:p>
                  </a:txBody>
                  <a:tcPr>
                    <a:solidFill>
                      <a:srgbClr val="0F172A"/>
                    </a:solidFill>
                  </a:tcPr>
                </a:tc>
                <a:tc>
                  <a:txBody>
                    <a:bodyPr/>
                    <a:lstStyle/>
                    <a:p>
                      <a:pPr>
                        <a:defRPr sz="1200" b="1">
                          <a:solidFill>
                            <a:srgbClr val="06B6D4"/>
                          </a:solidFill>
                        </a:defRPr>
                      </a:pPr>
                      <a:r>
                        <a:t>Empirical p</a:t>
                      </a:r>
                    </a:p>
                  </a:txBody>
                  <a:tcPr>
                    <a:solidFill>
                      <a:srgbClr val="0F172A"/>
                    </a:solidFill>
                  </a:tcPr>
                </a:tc>
                <a:tc>
                  <a:txBody>
                    <a:bodyPr/>
                    <a:lstStyle/>
                    <a:p>
                      <a:pPr>
                        <a:defRPr sz="1200" b="1">
                          <a:solidFill>
                            <a:srgbClr val="06B6D4"/>
                          </a:solidFill>
                        </a:defRPr>
                      </a:pPr>
                      <a:r>
                        <a:t>Permutation FDR</a:t>
                      </a:r>
                    </a:p>
                  </a:txBody>
                  <a:tcPr>
                    <a:solidFill>
                      <a:srgbClr val="0F172A"/>
                    </a:solidFill>
                  </a:tcPr>
                </a:tc>
              </a:tr>
              <a:tr h="585216">
                <a:tc>
                  <a:txBody>
                    <a:bodyPr/>
                    <a:lstStyle/>
                    <a:p>
                      <a:pPr>
                        <a:defRPr sz="1200">
                          <a:solidFill>
                            <a:srgbClr val="F8FAFC"/>
                          </a:solidFill>
                        </a:defRPr>
                      </a:pPr>
                      <a:r>
                        <a:t>PTEN</a:t>
                      </a:r>
                    </a:p>
                  </a:txBody>
                  <a:tcPr>
                    <a:solidFill>
                      <a:srgbClr val="1E293B"/>
                    </a:solidFill>
                  </a:tcPr>
                </a:tc>
                <a:tc>
                  <a:txBody>
                    <a:bodyPr/>
                    <a:lstStyle/>
                    <a:p>
                      <a:pPr>
                        <a:defRPr sz="1200">
                          <a:solidFill>
                            <a:srgbClr val="F8FAFC"/>
                          </a:solidFill>
                        </a:defRPr>
                      </a:pPr>
                      <a:r>
                        <a:t>883</a:t>
                      </a:r>
                    </a:p>
                  </a:txBody>
                  <a:tcPr>
                    <a:solidFill>
                      <a:srgbClr val="1E293B"/>
                    </a:solidFill>
                  </a:tcPr>
                </a:tc>
                <a:tc>
                  <a:txBody>
                    <a:bodyPr/>
                    <a:lstStyle/>
                    <a:p>
                      <a:pPr>
                        <a:defRPr sz="1200">
                          <a:solidFill>
                            <a:srgbClr val="F8FAFC"/>
                          </a:solidFill>
                        </a:defRPr>
                      </a:pPr>
                      <a:r>
                        <a:t>97</a:t>
                      </a:r>
                    </a:p>
                  </a:txBody>
                  <a:tcPr>
                    <a:solidFill>
                      <a:srgbClr val="1E293B"/>
                    </a:solidFill>
                  </a:tcPr>
                </a:tc>
                <a:tc>
                  <a:txBody>
                    <a:bodyPr/>
                    <a:lstStyle/>
                    <a:p>
                      <a:pPr>
                        <a:defRPr sz="1200">
                          <a:solidFill>
                            <a:srgbClr val="F8FAFC"/>
                          </a:solidFill>
                        </a:defRPr>
                      </a:pPr>
                      <a:r>
                        <a:t>97.0</a:t>
                      </a:r>
                    </a:p>
                  </a:txBody>
                  <a:tcPr>
                    <a:solidFill>
                      <a:srgbClr val="1E293B"/>
                    </a:solidFill>
                  </a:tcPr>
                </a:tc>
                <a:tc>
                  <a:txBody>
                    <a:bodyPr/>
                    <a:lstStyle/>
                    <a:p>
                      <a:pPr>
                        <a:defRPr sz="1200">
                          <a:solidFill>
                            <a:srgbClr val="F8FAFC"/>
                          </a:solidFill>
                        </a:defRPr>
                      </a:pPr>
                      <a:r>
                        <a:t>0.461</a:t>
                      </a:r>
                    </a:p>
                  </a:txBody>
                  <a:tcPr>
                    <a:solidFill>
                      <a:srgbClr val="1E293B"/>
                    </a:solidFill>
                  </a:tcPr>
                </a:tc>
                <a:tc>
                  <a:txBody>
                    <a:bodyPr/>
                    <a:lstStyle/>
                    <a:p>
                      <a:pPr>
                        <a:defRPr sz="1200">
                          <a:solidFill>
                            <a:srgbClr val="F43F5E"/>
                          </a:solidFill>
                        </a:defRPr>
                      </a:pPr>
                      <a:r>
                        <a:t>1.00 (Pure Noise)</a:t>
                      </a:r>
                    </a:p>
                  </a:txBody>
                  <a:tcPr>
                    <a:solidFill>
                      <a:srgbClr val="1E293B"/>
                    </a:solidFill>
                  </a:tcPr>
                </a:tc>
              </a:tr>
              <a:tr h="585216">
                <a:tc>
                  <a:txBody>
                    <a:bodyPr/>
                    <a:lstStyle/>
                    <a:p>
                      <a:pPr>
                        <a:defRPr sz="1200">
                          <a:solidFill>
                            <a:srgbClr val="F8FAFC"/>
                          </a:solidFill>
                        </a:defRPr>
                      </a:pPr>
                      <a:r>
                        <a:t>CDKN2A</a:t>
                      </a:r>
                    </a:p>
                  </a:txBody>
                  <a:tcPr>
                    <a:solidFill>
                      <a:srgbClr val="1E293B"/>
                    </a:solidFill>
                  </a:tcPr>
                </a:tc>
                <a:tc>
                  <a:txBody>
                    <a:bodyPr/>
                    <a:lstStyle/>
                    <a:p>
                      <a:pPr>
                        <a:defRPr sz="1200">
                          <a:solidFill>
                            <a:srgbClr val="F8FAFC"/>
                          </a:solidFill>
                        </a:defRPr>
                      </a:pPr>
                      <a:r>
                        <a:t>1402</a:t>
                      </a:r>
                    </a:p>
                  </a:txBody>
                  <a:tcPr>
                    <a:solidFill>
                      <a:srgbClr val="1E293B"/>
                    </a:solidFill>
                  </a:tcPr>
                </a:tc>
                <a:tc>
                  <a:txBody>
                    <a:bodyPr/>
                    <a:lstStyle/>
                    <a:p>
                      <a:pPr>
                        <a:defRPr sz="1200">
                          <a:solidFill>
                            <a:srgbClr val="F8FAFC"/>
                          </a:solidFill>
                        </a:defRPr>
                      </a:pPr>
                      <a:r>
                        <a:t>48</a:t>
                      </a:r>
                    </a:p>
                  </a:txBody>
                  <a:tcPr>
                    <a:solidFill>
                      <a:srgbClr val="1E293B"/>
                    </a:solidFill>
                  </a:tcPr>
                </a:tc>
                <a:tc>
                  <a:txBody>
                    <a:bodyPr/>
                    <a:lstStyle/>
                    <a:p>
                      <a:pPr>
                        <a:defRPr sz="1200">
                          <a:solidFill>
                            <a:srgbClr val="F8FAFC"/>
                          </a:solidFill>
                        </a:defRPr>
                      </a:pPr>
                      <a:r>
                        <a:t>41.7</a:t>
                      </a:r>
                    </a:p>
                  </a:txBody>
                  <a:tcPr>
                    <a:solidFill>
                      <a:srgbClr val="1E293B"/>
                    </a:solidFill>
                  </a:tcPr>
                </a:tc>
                <a:tc>
                  <a:txBody>
                    <a:bodyPr/>
                    <a:lstStyle/>
                    <a:p>
                      <a:pPr>
                        <a:defRPr sz="1200">
                          <a:solidFill>
                            <a:srgbClr val="F8FAFC"/>
                          </a:solidFill>
                        </a:defRPr>
                      </a:pPr>
                      <a:r>
                        <a:t>0.315</a:t>
                      </a:r>
                    </a:p>
                  </a:txBody>
                  <a:tcPr>
                    <a:solidFill>
                      <a:srgbClr val="1E293B"/>
                    </a:solidFill>
                  </a:tcPr>
                </a:tc>
                <a:tc>
                  <a:txBody>
                    <a:bodyPr/>
                    <a:lstStyle/>
                    <a:p>
                      <a:pPr>
                        <a:defRPr sz="1200">
                          <a:solidFill>
                            <a:srgbClr val="F43F5E"/>
                          </a:solidFill>
                        </a:defRPr>
                      </a:pPr>
                      <a:r>
                        <a:t>0.87 (High Noise)</a:t>
                      </a:r>
                    </a:p>
                  </a:txBody>
                  <a:tcPr>
                    <a:solidFill>
                      <a:srgbClr val="1E293B"/>
                    </a:solidFill>
                  </a:tcPr>
                </a:tc>
              </a:tr>
              <a:tr h="585216">
                <a:tc>
                  <a:txBody>
                    <a:bodyPr/>
                    <a:lstStyle/>
                    <a:p>
                      <a:pPr>
                        <a:defRPr sz="1200">
                          <a:solidFill>
                            <a:srgbClr val="F8FAFC"/>
                          </a:solidFill>
                        </a:defRPr>
                      </a:pPr>
                      <a:r>
                        <a:t>RB1</a:t>
                      </a:r>
                    </a:p>
                  </a:txBody>
                  <a:tcPr>
                    <a:solidFill>
                      <a:srgbClr val="1E293B"/>
                    </a:solidFill>
                  </a:tcPr>
                </a:tc>
                <a:tc>
                  <a:txBody>
                    <a:bodyPr/>
                    <a:lstStyle/>
                    <a:p>
                      <a:pPr>
                        <a:defRPr sz="1200">
                          <a:solidFill>
                            <a:srgbClr val="F8FAFC"/>
                          </a:solidFill>
                        </a:defRPr>
                      </a:pPr>
                      <a:r>
                        <a:t>1360</a:t>
                      </a:r>
                    </a:p>
                  </a:txBody>
                  <a:tcPr>
                    <a:solidFill>
                      <a:srgbClr val="1E293B"/>
                    </a:solidFill>
                  </a:tcPr>
                </a:tc>
                <a:tc>
                  <a:txBody>
                    <a:bodyPr/>
                    <a:lstStyle/>
                    <a:p>
                      <a:pPr>
                        <a:defRPr sz="1200">
                          <a:solidFill>
                            <a:srgbClr val="F8FAFC"/>
                          </a:solidFill>
                        </a:defRPr>
                      </a:pPr>
                      <a:r>
                        <a:t>94</a:t>
                      </a:r>
                    </a:p>
                  </a:txBody>
                  <a:tcPr>
                    <a:solidFill>
                      <a:srgbClr val="1E293B"/>
                    </a:solidFill>
                  </a:tcPr>
                </a:tc>
                <a:tc>
                  <a:txBody>
                    <a:bodyPr/>
                    <a:lstStyle/>
                    <a:p>
                      <a:pPr>
                        <a:defRPr sz="1200">
                          <a:solidFill>
                            <a:srgbClr val="F8FAFC"/>
                          </a:solidFill>
                        </a:defRPr>
                      </a:pPr>
                      <a:r>
                        <a:t>63.6</a:t>
                      </a:r>
                    </a:p>
                  </a:txBody>
                  <a:tcPr>
                    <a:solidFill>
                      <a:srgbClr val="1E293B"/>
                    </a:solidFill>
                  </a:tcPr>
                </a:tc>
                <a:tc>
                  <a:txBody>
                    <a:bodyPr/>
                    <a:lstStyle/>
                    <a:p>
                      <a:pPr>
                        <a:defRPr sz="1200">
                          <a:solidFill>
                            <a:srgbClr val="F8FAFC"/>
                          </a:solidFill>
                        </a:defRPr>
                      </a:pPr>
                      <a:r>
                        <a:t>0.095</a:t>
                      </a:r>
                    </a:p>
                  </a:txBody>
                  <a:tcPr>
                    <a:solidFill>
                      <a:srgbClr val="1E293B"/>
                    </a:solidFill>
                  </a:tcPr>
                </a:tc>
                <a:tc>
                  <a:txBody>
                    <a:bodyPr/>
                    <a:lstStyle/>
                    <a:p>
                      <a:pPr>
                        <a:defRPr sz="1200">
                          <a:solidFill>
                            <a:srgbClr val="F59E0B"/>
                          </a:solidFill>
                        </a:defRPr>
                      </a:pPr>
                      <a:r>
                        <a:t>0.68 (Marginal Signal)</a:t>
                      </a:r>
                    </a:p>
                  </a:txBody>
                  <a:tcPr>
                    <a:solidFill>
                      <a:srgbClr val="1E293B"/>
                    </a:solidFill>
                  </a:tcPr>
                </a:tc>
              </a:tr>
              <a:tr h="585216">
                <a:tc>
                  <a:txBody>
                    <a:bodyPr/>
                    <a:lstStyle/>
                    <a:p>
                      <a:pPr>
                        <a:defRPr sz="1200">
                          <a:solidFill>
                            <a:srgbClr val="F8FAFC"/>
                          </a:solidFill>
                        </a:defRPr>
                      </a:pPr>
                      <a:r>
                        <a:t>TP53</a:t>
                      </a:r>
                    </a:p>
                  </a:txBody>
                  <a:tcPr>
                    <a:solidFill>
                      <a:srgbClr val="1E293B"/>
                    </a:solidFill>
                  </a:tcPr>
                </a:tc>
                <a:tc>
                  <a:txBody>
                    <a:bodyPr/>
                    <a:lstStyle/>
                    <a:p>
                      <a:pPr>
                        <a:defRPr sz="1200">
                          <a:solidFill>
                            <a:srgbClr val="F8FAFC"/>
                          </a:solidFill>
                        </a:defRPr>
                      </a:pPr>
                      <a:r>
                        <a:t>1402</a:t>
                      </a:r>
                    </a:p>
                  </a:txBody>
                  <a:tcPr>
                    <a:solidFill>
                      <a:srgbClr val="1E293B"/>
                    </a:solidFill>
                  </a:tcPr>
                </a:tc>
                <a:tc>
                  <a:txBody>
                    <a:bodyPr/>
                    <a:lstStyle/>
                    <a:p>
                      <a:pPr>
                        <a:defRPr sz="1200">
                          <a:solidFill>
                            <a:srgbClr val="F8FAFC"/>
                          </a:solidFill>
                        </a:defRPr>
                      </a:pPr>
                      <a:r>
                        <a:t>16</a:t>
                      </a:r>
                    </a:p>
                  </a:txBody>
                  <a:tcPr>
                    <a:solidFill>
                      <a:srgbClr val="1E293B"/>
                    </a:solidFill>
                  </a:tcPr>
                </a:tc>
                <a:tc>
                  <a:txBody>
                    <a:bodyPr/>
                    <a:lstStyle/>
                    <a:p>
                      <a:pPr>
                        <a:defRPr sz="1200">
                          <a:solidFill>
                            <a:srgbClr val="F8FAFC"/>
                          </a:solidFill>
                        </a:defRPr>
                      </a:pPr>
                      <a:r>
                        <a:t>20.3</a:t>
                      </a:r>
                    </a:p>
                  </a:txBody>
                  <a:tcPr>
                    <a:solidFill>
                      <a:srgbClr val="1E293B"/>
                    </a:solidFill>
                  </a:tcPr>
                </a:tc>
                <a:tc>
                  <a:txBody>
                    <a:bodyPr/>
                    <a:lstStyle/>
                    <a:p>
                      <a:pPr>
                        <a:defRPr sz="1200">
                          <a:solidFill>
                            <a:srgbClr val="F8FAFC"/>
                          </a:solidFill>
                        </a:defRPr>
                      </a:pPr>
                      <a:r>
                        <a:t>0.596</a:t>
                      </a:r>
                    </a:p>
                  </a:txBody>
                  <a:tcPr>
                    <a:solidFill>
                      <a:srgbClr val="1E293B"/>
                    </a:solidFill>
                  </a:tcPr>
                </a:tc>
                <a:tc>
                  <a:txBody>
                    <a:bodyPr/>
                    <a:lstStyle/>
                    <a:p>
                      <a:pPr>
                        <a:defRPr sz="1200">
                          <a:solidFill>
                            <a:srgbClr val="F43F5E"/>
                          </a:solidFill>
                        </a:defRPr>
                      </a:pPr>
                      <a:r>
                        <a:t>1.27 (Pure Noise)</a:t>
                      </a:r>
                    </a:p>
                  </a:txBody>
                  <a:tcPr>
                    <a:solidFill>
                      <a:srgbClr val="1E293B"/>
                    </a:solidFill>
                  </a:tcPr>
                </a:tc>
              </a:tr>
            </a:tbl>
          </a:graphicData>
        </a:graphic>
      </p:graphicFrame>
      <p:sp>
        <p:nvSpPr>
          <p:cNvPr id="4" name="Rounded Rectangle 3"/>
          <p:cNvSpPr/>
          <p:nvPr/>
        </p:nvSpPr>
        <p:spPr>
          <a:xfrm>
            <a:off x="731520" y="4846320"/>
            <a:ext cx="10728655" cy="1371600"/>
          </a:xfrm>
          <a:prstGeom prst="roundRect">
            <a:avLst/>
          </a:prstGeom>
          <a:solidFill>
            <a:srgbClr val="1E141E"/>
          </a:solidFill>
          <a:ln w="1270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4937760"/>
            <a:ext cx="10180015" cy="1188720"/>
          </a:xfrm>
          <a:prstGeom prst="rect">
            <a:avLst/>
          </a:prstGeom>
          <a:noFill/>
        </p:spPr>
        <p:txBody>
          <a:bodyPr wrap="square">
            <a:spAutoFit/>
          </a:bodyPr>
          <a:lstStyle/>
          <a:p>
            <a:pPr>
              <a:defRPr sz="1300">
                <a:solidFill>
                  <a:srgbClr val="F8FAFC"/>
                </a:solidFill>
              </a:defRPr>
            </a:pPr>
            <a:r>
              <a:t>Takeaway: Taking a raw difference of two noisy pooled cohort means naturally fills up the lower tail regardless of true genotype selectivity. PTEN, CDKN2A, and TP53 hit lists are indistinguishable from random genotype label assignments.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731520" y="457200"/>
            <a:ext cx="10728655" cy="1005840"/>
          </a:xfrm>
          <a:prstGeom prst="rect">
            <a:avLst/>
          </a:prstGeom>
          <a:noFill/>
        </p:spPr>
        <p:txBody>
          <a:bodyPr wrap="square" lIns="0" tIns="0" rIns="0" bIns="0">
            <a:spAutoFit/>
          </a:bodyPr>
          <a:lstStyle/>
          <a:p>
            <a:pPr>
              <a:defRPr sz="2400" b="1">
                <a:solidFill>
                  <a:srgbClr val="06B6D4"/>
                </a:solidFill>
                <a:latin typeface="Arial"/>
              </a:defRPr>
            </a:pPr>
            <a:r>
              <a:t>Control 3: Bootstrap Confidence Interval Uncertainty Gate</a:t>
            </a:r>
          </a:p>
          <a:p>
            <a:pPr>
              <a:spcBef>
                <a:spcPts val="400"/>
              </a:spcBef>
              <a:defRPr sz="1300">
                <a:solidFill>
                  <a:srgbClr val="94A3B8"/>
                </a:solidFill>
                <a:latin typeface="Arial"/>
              </a:defRPr>
            </a:pPr>
            <a:r>
              <a:t>Per-Compound Resampling (B=2,000) Eliminates 73% to 94% of Point-Estimate Candidates</a:t>
            </a:r>
          </a:p>
        </p:txBody>
      </p:sp>
      <p:graphicFrame>
        <p:nvGraphicFramePr>
          <p:cNvPr id="3" name="Table 2"/>
          <p:cNvGraphicFramePr>
            <a:graphicFrameLocks noGrp="1"/>
          </p:cNvGraphicFramePr>
          <p:nvPr/>
        </p:nvGraphicFramePr>
        <p:xfrm>
          <a:off x="731520" y="1645920"/>
          <a:ext cx="10728655" cy="2926080"/>
        </p:xfrm>
        <a:graphic>
          <a:graphicData uri="http://schemas.openxmlformats.org/drawingml/2006/table">
            <a:tbl>
              <a:tblPr firstRow="1" bandRow="1">
                <a:tableStyleId>{5C22544A-7EE6-4342-B048-85BDC9FD1C3A}</a:tableStyleId>
              </a:tblPr>
              <a:tblGrid>
                <a:gridCol w="2145731"/>
                <a:gridCol w="2145731"/>
                <a:gridCol w="2145731"/>
                <a:gridCol w="2145731"/>
                <a:gridCol w="2145731"/>
              </a:tblGrid>
              <a:tr h="585216">
                <a:tc>
                  <a:txBody>
                    <a:bodyPr/>
                    <a:lstStyle/>
                    <a:p>
                      <a:pPr>
                        <a:defRPr sz="1200" b="1">
                          <a:solidFill>
                            <a:srgbClr val="06B6D4"/>
                          </a:solidFill>
                        </a:defRPr>
                      </a:pPr>
                      <a:r>
                        <a:t>Gene</a:t>
                      </a:r>
                    </a:p>
                  </a:txBody>
                  <a:tcPr>
                    <a:solidFill>
                      <a:srgbClr val="0F172A"/>
                    </a:solidFill>
                  </a:tcPr>
                </a:tc>
                <a:tc>
                  <a:txBody>
                    <a:bodyPr/>
                    <a:lstStyle/>
                    <a:p>
                      <a:pPr>
                        <a:defRPr sz="1200" b="1">
                          <a:solidFill>
                            <a:srgbClr val="06B6D4"/>
                          </a:solidFill>
                        </a:defRPr>
                      </a:pPr>
                      <a:r>
                        <a:t>Point Candidates</a:t>
                      </a:r>
                    </a:p>
                  </a:txBody>
                  <a:tcPr>
                    <a:solidFill>
                      <a:srgbClr val="0F172A"/>
                    </a:solidFill>
                  </a:tcPr>
                </a:tc>
                <a:tc>
                  <a:txBody>
                    <a:bodyPr/>
                    <a:lstStyle/>
                    <a:p>
                      <a:pPr>
                        <a:defRPr sz="1200" b="1">
                          <a:solidFill>
                            <a:srgbClr val="06B6D4"/>
                          </a:solidFill>
                        </a:defRPr>
                      </a:pPr>
                      <a:r>
                        <a:t>Loose Gate (ci_excl0)</a:t>
                      </a:r>
                    </a:p>
                  </a:txBody>
                  <a:tcPr>
                    <a:solidFill>
                      <a:srgbClr val="0F172A"/>
                    </a:solidFill>
                  </a:tcPr>
                </a:tc>
                <a:tc>
                  <a:txBody>
                    <a:bodyPr/>
                    <a:lstStyle/>
                    <a:p>
                      <a:pPr>
                        <a:defRPr sz="1200" b="1">
                          <a:solidFill>
                            <a:srgbClr val="06B6D4"/>
                          </a:solidFill>
                        </a:defRPr>
                      </a:pPr>
                      <a:r>
                        <a:t>Strict Gate (CI ≤ −2.0)</a:t>
                      </a:r>
                    </a:p>
                  </a:txBody>
                  <a:tcPr>
                    <a:solidFill>
                      <a:srgbClr val="0F172A"/>
                    </a:solidFill>
                  </a:tcPr>
                </a:tc>
                <a:tc>
                  <a:txBody>
                    <a:bodyPr/>
                    <a:lstStyle/>
                    <a:p>
                      <a:pPr>
                        <a:defRPr sz="1200" b="1">
                          <a:solidFill>
                            <a:srgbClr val="06B6D4"/>
                          </a:solidFill>
                        </a:defRPr>
                      </a:pPr>
                      <a:r>
                        <a:t>% Candidates Eliminated</a:t>
                      </a:r>
                    </a:p>
                  </a:txBody>
                  <a:tcPr>
                    <a:solidFill>
                      <a:srgbClr val="0F172A"/>
                    </a:solidFill>
                  </a:tcPr>
                </a:tc>
              </a:tr>
              <a:tr h="585216">
                <a:tc>
                  <a:txBody>
                    <a:bodyPr/>
                    <a:lstStyle/>
                    <a:p>
                      <a:pPr>
                        <a:defRPr sz="1200">
                          <a:solidFill>
                            <a:srgbClr val="F8FAFC"/>
                          </a:solidFill>
                        </a:defRPr>
                      </a:pPr>
                      <a:r>
                        <a:t>PTEN</a:t>
                      </a:r>
                    </a:p>
                  </a:txBody>
                  <a:tcPr>
                    <a:solidFill>
                      <a:srgbClr val="1E293B"/>
                    </a:solidFill>
                  </a:tcPr>
                </a:tc>
                <a:tc>
                  <a:txBody>
                    <a:bodyPr/>
                    <a:lstStyle/>
                    <a:p>
                      <a:pPr>
                        <a:defRPr sz="1200">
                          <a:solidFill>
                            <a:srgbClr val="F8FAFC"/>
                          </a:solidFill>
                        </a:defRPr>
                      </a:pPr>
                      <a:r>
                        <a:t>97</a:t>
                      </a:r>
                    </a:p>
                  </a:txBody>
                  <a:tcPr>
                    <a:solidFill>
                      <a:srgbClr val="1E293B"/>
                    </a:solidFill>
                  </a:tcPr>
                </a:tc>
                <a:tc>
                  <a:txBody>
                    <a:bodyPr/>
                    <a:lstStyle/>
                    <a:p>
                      <a:pPr>
                        <a:defRPr sz="1200">
                          <a:solidFill>
                            <a:srgbClr val="F8FAFC"/>
                          </a:solidFill>
                        </a:defRPr>
                      </a:pPr>
                      <a:r>
                        <a:t>85</a:t>
                      </a:r>
                    </a:p>
                  </a:txBody>
                  <a:tcPr>
                    <a:solidFill>
                      <a:srgbClr val="1E293B"/>
                    </a:solidFill>
                  </a:tcPr>
                </a:tc>
                <a:tc>
                  <a:txBody>
                    <a:bodyPr/>
                    <a:lstStyle/>
                    <a:p>
                      <a:pPr>
                        <a:defRPr sz="1200">
                          <a:solidFill>
                            <a:srgbClr val="F8FAFC"/>
                          </a:solidFill>
                        </a:defRPr>
                      </a:pPr>
                      <a:r>
                        <a:t>26</a:t>
                      </a:r>
                    </a:p>
                  </a:txBody>
                  <a:tcPr>
                    <a:solidFill>
                      <a:srgbClr val="1E293B"/>
                    </a:solidFill>
                  </a:tcPr>
                </a:tc>
                <a:tc>
                  <a:txBody>
                    <a:bodyPr/>
                    <a:lstStyle/>
                    <a:p>
                      <a:pPr>
                        <a:defRPr sz="1200">
                          <a:solidFill>
                            <a:srgbClr val="F43F5E"/>
                          </a:solidFill>
                        </a:defRPr>
                      </a:pPr>
                      <a:r>
                        <a:t>73.2%</a:t>
                      </a:r>
                    </a:p>
                  </a:txBody>
                  <a:tcPr>
                    <a:solidFill>
                      <a:srgbClr val="1E293B"/>
                    </a:solidFill>
                  </a:tcPr>
                </a:tc>
              </a:tr>
              <a:tr h="585216">
                <a:tc>
                  <a:txBody>
                    <a:bodyPr/>
                    <a:lstStyle/>
                    <a:p>
                      <a:pPr>
                        <a:defRPr sz="1200">
                          <a:solidFill>
                            <a:srgbClr val="F8FAFC"/>
                          </a:solidFill>
                        </a:defRPr>
                      </a:pPr>
                      <a:r>
                        <a:t>CDKN2A</a:t>
                      </a:r>
                    </a:p>
                  </a:txBody>
                  <a:tcPr>
                    <a:solidFill>
                      <a:srgbClr val="1E293B"/>
                    </a:solidFill>
                  </a:tcPr>
                </a:tc>
                <a:tc>
                  <a:txBody>
                    <a:bodyPr/>
                    <a:lstStyle/>
                    <a:p>
                      <a:pPr>
                        <a:defRPr sz="1200">
                          <a:solidFill>
                            <a:srgbClr val="F8FAFC"/>
                          </a:solidFill>
                        </a:defRPr>
                      </a:pPr>
                      <a:r>
                        <a:t>48</a:t>
                      </a:r>
                    </a:p>
                  </a:txBody>
                  <a:tcPr>
                    <a:solidFill>
                      <a:srgbClr val="1E293B"/>
                    </a:solidFill>
                  </a:tcPr>
                </a:tc>
                <a:tc>
                  <a:txBody>
                    <a:bodyPr/>
                    <a:lstStyle/>
                    <a:p>
                      <a:pPr>
                        <a:defRPr sz="1200">
                          <a:solidFill>
                            <a:srgbClr val="F8FAFC"/>
                          </a:solidFill>
                        </a:defRPr>
                      </a:pPr>
                      <a:r>
                        <a:t>29</a:t>
                      </a:r>
                    </a:p>
                  </a:txBody>
                  <a:tcPr>
                    <a:solidFill>
                      <a:srgbClr val="1E293B"/>
                    </a:solidFill>
                  </a:tcPr>
                </a:tc>
                <a:tc>
                  <a:txBody>
                    <a:bodyPr/>
                    <a:lstStyle/>
                    <a:p>
                      <a:pPr>
                        <a:defRPr sz="1200">
                          <a:solidFill>
                            <a:srgbClr val="F8FAFC"/>
                          </a:solidFill>
                        </a:defRPr>
                      </a:pPr>
                      <a:r>
                        <a:t>3</a:t>
                      </a:r>
                    </a:p>
                  </a:txBody>
                  <a:tcPr>
                    <a:solidFill>
                      <a:srgbClr val="1E293B"/>
                    </a:solidFill>
                  </a:tcPr>
                </a:tc>
                <a:tc>
                  <a:txBody>
                    <a:bodyPr/>
                    <a:lstStyle/>
                    <a:p>
                      <a:pPr>
                        <a:defRPr sz="1200">
                          <a:solidFill>
                            <a:srgbClr val="F43F5E"/>
                          </a:solidFill>
                        </a:defRPr>
                      </a:pPr>
                      <a:r>
                        <a:t>93.8%</a:t>
                      </a:r>
                    </a:p>
                  </a:txBody>
                  <a:tcPr>
                    <a:solidFill>
                      <a:srgbClr val="1E293B"/>
                    </a:solidFill>
                  </a:tcPr>
                </a:tc>
              </a:tr>
              <a:tr h="585216">
                <a:tc>
                  <a:txBody>
                    <a:bodyPr/>
                    <a:lstStyle/>
                    <a:p>
                      <a:pPr>
                        <a:defRPr sz="1200">
                          <a:solidFill>
                            <a:srgbClr val="F8FAFC"/>
                          </a:solidFill>
                        </a:defRPr>
                      </a:pPr>
                      <a:r>
                        <a:t>RB1</a:t>
                      </a:r>
                    </a:p>
                  </a:txBody>
                  <a:tcPr>
                    <a:solidFill>
                      <a:srgbClr val="1E293B"/>
                    </a:solidFill>
                  </a:tcPr>
                </a:tc>
                <a:tc>
                  <a:txBody>
                    <a:bodyPr/>
                    <a:lstStyle/>
                    <a:p>
                      <a:pPr>
                        <a:defRPr sz="1200">
                          <a:solidFill>
                            <a:srgbClr val="F8FAFC"/>
                          </a:solidFill>
                        </a:defRPr>
                      </a:pPr>
                      <a:r>
                        <a:t>94</a:t>
                      </a:r>
                    </a:p>
                  </a:txBody>
                  <a:tcPr>
                    <a:solidFill>
                      <a:srgbClr val="1E293B"/>
                    </a:solidFill>
                  </a:tcPr>
                </a:tc>
                <a:tc>
                  <a:txBody>
                    <a:bodyPr/>
                    <a:lstStyle/>
                    <a:p>
                      <a:pPr>
                        <a:defRPr sz="1200">
                          <a:solidFill>
                            <a:srgbClr val="F8FAFC"/>
                          </a:solidFill>
                        </a:defRPr>
                      </a:pPr>
                      <a:r>
                        <a:t>67</a:t>
                      </a:r>
                    </a:p>
                  </a:txBody>
                  <a:tcPr>
                    <a:solidFill>
                      <a:srgbClr val="1E293B"/>
                    </a:solidFill>
                  </a:tcPr>
                </a:tc>
                <a:tc>
                  <a:txBody>
                    <a:bodyPr/>
                    <a:lstStyle/>
                    <a:p>
                      <a:pPr>
                        <a:defRPr sz="1200">
                          <a:solidFill>
                            <a:srgbClr val="F8FAFC"/>
                          </a:solidFill>
                        </a:defRPr>
                      </a:pPr>
                      <a:r>
                        <a:t>16</a:t>
                      </a:r>
                    </a:p>
                  </a:txBody>
                  <a:tcPr>
                    <a:solidFill>
                      <a:srgbClr val="1E293B"/>
                    </a:solidFill>
                  </a:tcPr>
                </a:tc>
                <a:tc>
                  <a:txBody>
                    <a:bodyPr/>
                    <a:lstStyle/>
                    <a:p>
                      <a:pPr>
                        <a:defRPr sz="1200">
                          <a:solidFill>
                            <a:srgbClr val="F43F5E"/>
                          </a:solidFill>
                        </a:defRPr>
                      </a:pPr>
                      <a:r>
                        <a:t>83.0%</a:t>
                      </a:r>
                    </a:p>
                  </a:txBody>
                  <a:tcPr>
                    <a:solidFill>
                      <a:srgbClr val="1E293B"/>
                    </a:solidFill>
                  </a:tcPr>
                </a:tc>
              </a:tr>
              <a:tr h="585216">
                <a:tc>
                  <a:txBody>
                    <a:bodyPr/>
                    <a:lstStyle/>
                    <a:p>
                      <a:pPr>
                        <a:defRPr sz="1200">
                          <a:solidFill>
                            <a:srgbClr val="F8FAFC"/>
                          </a:solidFill>
                        </a:defRPr>
                      </a:pPr>
                      <a:r>
                        <a:t>TP53</a:t>
                      </a:r>
                    </a:p>
                  </a:txBody>
                  <a:tcPr>
                    <a:solidFill>
                      <a:srgbClr val="1E293B"/>
                    </a:solidFill>
                  </a:tcPr>
                </a:tc>
                <a:tc>
                  <a:txBody>
                    <a:bodyPr/>
                    <a:lstStyle/>
                    <a:p>
                      <a:pPr>
                        <a:defRPr sz="1200">
                          <a:solidFill>
                            <a:srgbClr val="F8FAFC"/>
                          </a:solidFill>
                        </a:defRPr>
                      </a:pPr>
                      <a:r>
                        <a:t>16</a:t>
                      </a:r>
                    </a:p>
                  </a:txBody>
                  <a:tcPr>
                    <a:solidFill>
                      <a:srgbClr val="1E293B"/>
                    </a:solidFill>
                  </a:tcPr>
                </a:tc>
                <a:tc>
                  <a:txBody>
                    <a:bodyPr/>
                    <a:lstStyle/>
                    <a:p>
                      <a:pPr>
                        <a:defRPr sz="1200">
                          <a:solidFill>
                            <a:srgbClr val="F8FAFC"/>
                          </a:solidFill>
                        </a:defRPr>
                      </a:pPr>
                      <a:r>
                        <a:t>4</a:t>
                      </a:r>
                    </a:p>
                  </a:txBody>
                  <a:tcPr>
                    <a:solidFill>
                      <a:srgbClr val="1E293B"/>
                    </a:solidFill>
                  </a:tcPr>
                </a:tc>
                <a:tc>
                  <a:txBody>
                    <a:bodyPr/>
                    <a:lstStyle/>
                    <a:p>
                      <a:pPr>
                        <a:defRPr sz="1200">
                          <a:solidFill>
                            <a:srgbClr val="F8FAFC"/>
                          </a:solidFill>
                        </a:defRPr>
                      </a:pPr>
                      <a:r>
                        <a:t>1</a:t>
                      </a:r>
                    </a:p>
                  </a:txBody>
                  <a:tcPr>
                    <a:solidFill>
                      <a:srgbClr val="1E293B"/>
                    </a:solidFill>
                  </a:tcPr>
                </a:tc>
                <a:tc>
                  <a:txBody>
                    <a:bodyPr/>
                    <a:lstStyle/>
                    <a:p>
                      <a:pPr>
                        <a:defRPr sz="1200">
                          <a:solidFill>
                            <a:srgbClr val="F43F5E"/>
                          </a:solidFill>
                        </a:defRPr>
                      </a:pPr>
                      <a:r>
                        <a:t>93.8%</a:t>
                      </a:r>
                    </a:p>
                  </a:txBody>
                  <a:tcPr>
                    <a:solidFill>
                      <a:srgbClr val="1E293B"/>
                    </a:solidFill>
                  </a:tcPr>
                </a:tc>
              </a:tr>
            </a:tbl>
          </a:graphicData>
        </a:graphic>
      </p:graphicFrame>
      <p:sp>
        <p:nvSpPr>
          <p:cNvPr id="4" name="Rounded Rectangle 3"/>
          <p:cNvSpPr/>
          <p:nvPr/>
        </p:nvSpPr>
        <p:spPr>
          <a:xfrm>
            <a:off x="731520" y="4846320"/>
            <a:ext cx="10728655" cy="1371600"/>
          </a:xfrm>
          <a:prstGeom prst="roundRect">
            <a:avLst/>
          </a:prstGeom>
          <a:solidFill>
            <a:srgbClr val="0F1928"/>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4937760"/>
            <a:ext cx="10180015" cy="1188720"/>
          </a:xfrm>
          <a:prstGeom prst="rect">
            <a:avLst/>
          </a:prstGeom>
          <a:noFill/>
        </p:spPr>
        <p:txBody>
          <a:bodyPr wrap="square">
            <a:spAutoFit/>
          </a:bodyPr>
          <a:lstStyle/>
          <a:p>
            <a:pPr>
              <a:defRPr sz="1300">
                <a:solidFill>
                  <a:srgbClr val="F8FAFC"/>
                </a:solidFill>
              </a:defRPr>
            </a:pPr>
            <a:r>
              <a:t>Key Insight: Accounting for sampling uncertainty by requiring the whole 95% bootstrap CI to remain ≤ −2.0 drastically thins candidate hit lists, leaving only 3 hits for CDKN2A, 1 for TP53, and 16 for RB1.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731520" y="457200"/>
            <a:ext cx="10728655" cy="1005840"/>
          </a:xfrm>
          <a:prstGeom prst="rect">
            <a:avLst/>
          </a:prstGeom>
          <a:noFill/>
        </p:spPr>
        <p:txBody>
          <a:bodyPr wrap="square" lIns="0" tIns="0" rIns="0" bIns="0">
            <a:spAutoFit/>
          </a:bodyPr>
          <a:lstStyle/>
          <a:p>
            <a:pPr>
              <a:defRPr sz="2400" b="1">
                <a:solidFill>
                  <a:srgbClr val="06B6D4"/>
                </a:solidFill>
                <a:latin typeface="Arial"/>
              </a:defRPr>
            </a:pPr>
            <a:r>
              <a:t>Control 2: Line-Centering &amp; Baseline Sensitivity Controls</a:t>
            </a:r>
          </a:p>
          <a:p>
            <a:pPr>
              <a:spcBef>
                <a:spcPts val="400"/>
              </a:spcBef>
              <a:defRPr sz="1300">
                <a:solidFill>
                  <a:srgbClr val="94A3B8"/>
                </a:solidFill>
                <a:latin typeface="Arial"/>
              </a:defRPr>
            </a:pPr>
            <a:r>
              <a:t>Evaluating General Cell-Line Hypersensitivity Confounds</a:t>
            </a:r>
          </a:p>
        </p:txBody>
      </p:sp>
      <p:sp>
        <p:nvSpPr>
          <p:cNvPr id="3" name="Rounded Rectangle 2"/>
          <p:cNvSpPr/>
          <p:nvPr/>
        </p:nvSpPr>
        <p:spPr>
          <a:xfrm>
            <a:off x="731520" y="1645920"/>
            <a:ext cx="5212080" cy="4389120"/>
          </a:xfrm>
          <a:prstGeom prst="roundRect">
            <a:avLst/>
          </a:prstGeom>
          <a:solidFill>
            <a:srgbClr val="1E293B"/>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828800"/>
            <a:ext cx="4663440" cy="4023360"/>
          </a:xfrm>
          <a:prstGeom prst="rect">
            <a:avLst/>
          </a:prstGeom>
          <a:noFill/>
        </p:spPr>
        <p:txBody>
          <a:bodyPr wrap="square">
            <a:spAutoFit/>
          </a:bodyPr>
          <a:lstStyle/>
          <a:p>
            <a:pPr>
              <a:defRPr sz="1800" b="1">
                <a:solidFill>
                  <a:srgbClr val="06B6D4"/>
                </a:solidFill>
              </a:defRPr>
            </a:pPr>
            <a:r>
              <a:t>✅ Finding 1: No Gross Hypersensitivity</a:t>
            </a:r>
          </a:p>
          <a:p>
            <a:pPr>
              <a:spcBef>
                <a:spcPts val="1200"/>
              </a:spcBef>
              <a:defRPr sz="1300">
                <a:solidFill>
                  <a:srgbClr val="94A3B8"/>
                </a:solidFill>
              </a:defRPr>
            </a:pPr>
            <a:r>
              <a:t>• Per-cell-line median sensitivity offsets are minor (-0.02 to -0.13).</a:t>
            </a:r>
          </a:p>
          <a:p>
            <a:pPr>
              <a:spcBef>
                <a:spcPts val="1200"/>
              </a:spcBef>
              <a:defRPr sz="1300">
                <a:solidFill>
                  <a:srgbClr val="94A3B8"/>
                </a:solidFill>
              </a:defRPr>
            </a:pPr>
            <a:r>
              <a:t>• Raw and centered ΔpS′ correlate near perfectly (r = 0.996 to 1.000).</a:t>
            </a:r>
          </a:p>
          <a:p>
            <a:pPr>
              <a:spcBef>
                <a:spcPts val="1200"/>
              </a:spcBef>
              <a:defRPr sz="1300">
                <a:solidFill>
                  <a:srgbClr val="94A3B8"/>
                </a:solidFill>
              </a:defRPr>
            </a:pPr>
            <a:r>
              <a:t>• Mutant lines are NOT generally hyper-sensitive to all drugs.</a:t>
            </a:r>
          </a:p>
        </p:txBody>
      </p:sp>
      <p:sp>
        <p:nvSpPr>
          <p:cNvPr id="5" name="Rounded Rectangle 4"/>
          <p:cNvSpPr/>
          <p:nvPr/>
        </p:nvSpPr>
        <p:spPr>
          <a:xfrm>
            <a:off x="6248095" y="1645920"/>
            <a:ext cx="5212080" cy="4389120"/>
          </a:xfrm>
          <a:prstGeom prst="roundRect">
            <a:avLst/>
          </a:prstGeom>
          <a:solidFill>
            <a:srgbClr val="1E141E"/>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22415" y="1828800"/>
            <a:ext cx="4663440" cy="4023360"/>
          </a:xfrm>
          <a:prstGeom prst="rect">
            <a:avLst/>
          </a:prstGeom>
          <a:noFill/>
        </p:spPr>
        <p:txBody>
          <a:bodyPr wrap="square">
            <a:spAutoFit/>
          </a:bodyPr>
          <a:lstStyle/>
          <a:p>
            <a:pPr>
              <a:defRPr sz="1800" b="1">
                <a:solidFill>
                  <a:srgbClr val="F59E0B"/>
                </a:solidFill>
              </a:defRPr>
            </a:pPr>
            <a:r>
              <a:t>⚠️ Finding 2: Scale Anchoring Sensitivity</a:t>
            </a:r>
          </a:p>
          <a:p>
            <a:pPr>
              <a:spcBef>
                <a:spcPts val="1200"/>
              </a:spcBef>
              <a:defRPr sz="1300">
                <a:solidFill>
                  <a:srgbClr val="F8FAFC"/>
                </a:solidFill>
              </a:defRPr>
            </a:pPr>
            <a:r>
              <a:t>• Line-centering removes ~95% of candidates.</a:t>
            </a:r>
          </a:p>
          <a:p>
            <a:pPr>
              <a:spcBef>
                <a:spcPts val="1200"/>
              </a:spcBef>
              <a:defRPr sz="1300">
                <a:solidFill>
                  <a:srgbClr val="F8FAFC"/>
                </a:solidFill>
              </a:defRPr>
            </a:pPr>
            <a:r>
              <a:t>• Centering pushes baseline pS′ below zero, failing the absolute activity gate.</a:t>
            </a:r>
          </a:p>
          <a:p>
            <a:pPr>
              <a:spcBef>
                <a:spcPts val="1200"/>
              </a:spcBef>
              <a:defRPr sz="1300">
                <a:solidFill>
                  <a:srgbClr val="F8FAFC"/>
                </a:solidFill>
              </a:defRPr>
            </a:pPr>
            <a:r>
              <a:t>• Proves candidate hit lists depend heavily on absolute 1 µM / percent-Emax scale choices.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731520" y="457200"/>
            <a:ext cx="10728655" cy="1005840"/>
          </a:xfrm>
          <a:prstGeom prst="rect">
            <a:avLst/>
          </a:prstGeom>
          <a:noFill/>
        </p:spPr>
        <p:txBody>
          <a:bodyPr wrap="square" lIns="0" tIns="0" rIns="0" bIns="0">
            <a:spAutoFit/>
          </a:bodyPr>
          <a:lstStyle/>
          <a:p>
            <a:pPr>
              <a:defRPr sz="2400" b="1">
                <a:solidFill>
                  <a:srgbClr val="06B6D4"/>
                </a:solidFill>
                <a:latin typeface="Arial"/>
              </a:defRPr>
            </a:pPr>
            <a:r>
              <a:t>Control 4: DEMETER2 RNAi Genetic Dependency Cross-Check</a:t>
            </a:r>
          </a:p>
          <a:p>
            <a:pPr>
              <a:spcBef>
                <a:spcPts val="400"/>
              </a:spcBef>
              <a:defRPr sz="1300">
                <a:solidFill>
                  <a:srgbClr val="94A3B8"/>
                </a:solidFill>
                <a:latin typeface="Arial"/>
              </a:defRPr>
            </a:pPr>
            <a:r>
              <a:t>Orthogonal Validation of RB1-Loss Vulnerabilities (Emitting Two-Sided q-values)</a:t>
            </a:r>
          </a:p>
        </p:txBody>
      </p:sp>
      <p:graphicFrame>
        <p:nvGraphicFramePr>
          <p:cNvPr id="3" name="Table 2"/>
          <p:cNvGraphicFramePr>
            <a:graphicFrameLocks noGrp="1"/>
          </p:cNvGraphicFramePr>
          <p:nvPr/>
        </p:nvGraphicFramePr>
        <p:xfrm>
          <a:off x="731520" y="1645920"/>
          <a:ext cx="10728655" cy="3840480"/>
        </p:xfrm>
        <a:graphic>
          <a:graphicData uri="http://schemas.openxmlformats.org/drawingml/2006/table">
            <a:tbl>
              <a:tblPr firstRow="1" bandRow="1">
                <a:tableStyleId>{5C22544A-7EE6-4342-B048-85BDC9FD1C3A}</a:tableStyleId>
              </a:tblPr>
              <a:tblGrid>
                <a:gridCol w="1788109"/>
                <a:gridCol w="1788109"/>
                <a:gridCol w="1788109"/>
                <a:gridCol w="1788109"/>
                <a:gridCol w="1788109"/>
                <a:gridCol w="1788110"/>
              </a:tblGrid>
              <a:tr h="548640">
                <a:tc>
                  <a:txBody>
                    <a:bodyPr/>
                    <a:lstStyle/>
                    <a:p>
                      <a:pPr>
                        <a:defRPr sz="1100" b="1">
                          <a:solidFill>
                            <a:srgbClr val="06B6D4"/>
                          </a:solidFill>
                        </a:defRPr>
                      </a:pPr>
                      <a:r>
                        <a:t>Gene</a:t>
                      </a:r>
                    </a:p>
                  </a:txBody>
                  <a:tcPr>
                    <a:solidFill>
                      <a:srgbClr val="0F172A"/>
                    </a:solidFill>
                  </a:tcPr>
                </a:tc>
                <a:tc>
                  <a:txBody>
                    <a:bodyPr/>
                    <a:lstStyle/>
                    <a:p>
                      <a:pPr>
                        <a:defRPr sz="1100" b="1">
                          <a:solidFill>
                            <a:srgbClr val="06B6D4"/>
                          </a:solidFill>
                        </a:defRPr>
                      </a:pPr>
                      <a:r>
                        <a:t>Target</a:t>
                      </a:r>
                    </a:p>
                  </a:txBody>
                  <a:tcPr>
                    <a:solidFill>
                      <a:srgbClr val="0F172A"/>
                    </a:solidFill>
                  </a:tcPr>
                </a:tc>
                <a:tc>
                  <a:txBody>
                    <a:bodyPr/>
                    <a:lstStyle/>
                    <a:p>
                      <a:pPr>
                        <a:defRPr sz="1100" b="1">
                          <a:solidFill>
                            <a:srgbClr val="06B6D4"/>
                          </a:solidFill>
                        </a:defRPr>
                      </a:pPr>
                      <a:r>
                        <a:t>ΔpD Effect Size</a:t>
                      </a:r>
                    </a:p>
                  </a:txBody>
                  <a:tcPr>
                    <a:solidFill>
                      <a:srgbClr val="0F172A"/>
                    </a:solidFill>
                  </a:tcPr>
                </a:tc>
                <a:tc>
                  <a:txBody>
                    <a:bodyPr/>
                    <a:lstStyle/>
                    <a:p>
                      <a:pPr>
                        <a:defRPr sz="1100" b="1">
                          <a:solidFill>
                            <a:srgbClr val="06B6D4"/>
                          </a:solidFill>
                        </a:defRPr>
                      </a:pPr>
                      <a:r>
                        <a:t>Direction</a:t>
                      </a:r>
                    </a:p>
                  </a:txBody>
                  <a:tcPr>
                    <a:solidFill>
                      <a:srgbClr val="0F172A"/>
                    </a:solidFill>
                  </a:tcPr>
                </a:tc>
                <a:tc>
                  <a:txBody>
                    <a:bodyPr/>
                    <a:lstStyle/>
                    <a:p>
                      <a:pPr>
                        <a:defRPr sz="1100" b="1">
                          <a:solidFill>
                            <a:srgbClr val="06B6D4"/>
                          </a:solidFill>
                        </a:defRPr>
                      </a:pPr>
                      <a:r>
                        <a:t>Two-Sided q (q_two)</a:t>
                      </a:r>
                    </a:p>
                  </a:txBody>
                  <a:tcPr>
                    <a:solidFill>
                      <a:srgbClr val="0F172A"/>
                    </a:solidFill>
                  </a:tcPr>
                </a:tc>
                <a:tc>
                  <a:txBody>
                    <a:bodyPr/>
                    <a:lstStyle/>
                    <a:p>
                      <a:pPr>
                        <a:defRPr sz="1100" b="1">
                          <a:solidFill>
                            <a:srgbClr val="06B6D4"/>
                          </a:solidFill>
                        </a:defRPr>
                      </a:pPr>
                      <a:r>
                        <a:t>Validation Status</a:t>
                      </a:r>
                    </a:p>
                  </a:txBody>
                  <a:tcPr>
                    <a:solidFill>
                      <a:srgbClr val="0F172A"/>
                    </a:solidFill>
                  </a:tcPr>
                </a:tc>
              </a:tr>
              <a:tr h="548640">
                <a:tc>
                  <a:txBody>
                    <a:bodyPr/>
                    <a:lstStyle/>
                    <a:p>
                      <a:pPr>
                        <a:defRPr sz="1100">
                          <a:solidFill>
                            <a:srgbClr val="F59E0B"/>
                          </a:solidFill>
                        </a:defRPr>
                      </a:pPr>
                      <a:r>
                        <a:t>RB1</a:t>
                      </a:r>
                    </a:p>
                  </a:txBody>
                  <a:tcPr>
                    <a:solidFill>
                      <a:srgbClr val="1E293B"/>
                    </a:solidFill>
                  </a:tcPr>
                </a:tc>
                <a:tc>
                  <a:txBody>
                    <a:bodyPr/>
                    <a:lstStyle/>
                    <a:p>
                      <a:pPr>
                        <a:defRPr sz="1100">
                          <a:solidFill>
                            <a:srgbClr val="F59E0B"/>
                          </a:solidFill>
                        </a:defRPr>
                      </a:pPr>
                      <a:r>
                        <a:t>CDK6</a:t>
                      </a:r>
                    </a:p>
                  </a:txBody>
                  <a:tcPr>
                    <a:solidFill>
                      <a:srgbClr val="1E293B"/>
                    </a:solidFill>
                  </a:tcPr>
                </a:tc>
                <a:tc>
                  <a:txBody>
                    <a:bodyPr/>
                    <a:lstStyle/>
                    <a:p>
                      <a:pPr>
                        <a:defRPr sz="1100">
                          <a:solidFill>
                            <a:srgbClr val="F59E0B"/>
                          </a:solidFill>
                        </a:defRPr>
                      </a:pPr>
                      <a:r>
                        <a:t>+0.400</a:t>
                      </a:r>
                    </a:p>
                  </a:txBody>
                  <a:tcPr>
                    <a:solidFill>
                      <a:srgbClr val="1E293B"/>
                    </a:solidFill>
                  </a:tcPr>
                </a:tc>
                <a:tc>
                  <a:txBody>
                    <a:bodyPr/>
                    <a:lstStyle/>
                    <a:p>
                      <a:pPr>
                        <a:defRPr sz="1100">
                          <a:solidFill>
                            <a:srgbClr val="F59E0B"/>
                          </a:solidFill>
                        </a:defRPr>
                      </a:pPr>
                      <a:r>
                        <a:t>WT-selective</a:t>
                      </a:r>
                    </a:p>
                  </a:txBody>
                  <a:tcPr>
                    <a:solidFill>
                      <a:srgbClr val="1E293B"/>
                    </a:solidFill>
                  </a:tcPr>
                </a:tc>
                <a:tc>
                  <a:txBody>
                    <a:bodyPr/>
                    <a:lstStyle/>
                    <a:p>
                      <a:pPr>
                        <a:defRPr sz="1100">
                          <a:solidFill>
                            <a:srgbClr val="F59E0B"/>
                          </a:solidFill>
                        </a:defRPr>
                      </a:pPr>
                      <a:r>
                        <a:t>&lt;0.0001</a:t>
                      </a:r>
                    </a:p>
                  </a:txBody>
                  <a:tcPr>
                    <a:solidFill>
                      <a:srgbClr val="1E293B"/>
                    </a:solidFill>
                  </a:tcPr>
                </a:tc>
                <a:tc>
                  <a:txBody>
                    <a:bodyPr/>
                    <a:lstStyle/>
                    <a:p>
                      <a:pPr>
                        <a:defRPr sz="1100">
                          <a:solidFill>
                            <a:srgbClr val="8B5CF6"/>
                          </a:solidFill>
                        </a:defRPr>
                      </a:pPr>
                      <a:r>
                        <a:t>WT Control (Validated)</a:t>
                      </a:r>
                    </a:p>
                  </a:txBody>
                  <a:tcPr>
                    <a:solidFill>
                      <a:srgbClr val="1E293B"/>
                    </a:solidFill>
                  </a:tcPr>
                </a:tc>
              </a:tr>
              <a:tr h="548640">
                <a:tc>
                  <a:txBody>
                    <a:bodyPr/>
                    <a:lstStyle/>
                    <a:p>
                      <a:pPr>
                        <a:defRPr sz="1100">
                          <a:solidFill>
                            <a:srgbClr val="F59E0B"/>
                          </a:solidFill>
                        </a:defRPr>
                      </a:pPr>
                      <a:r>
                        <a:t>RB1</a:t>
                      </a:r>
                    </a:p>
                  </a:txBody>
                  <a:tcPr>
                    <a:solidFill>
                      <a:srgbClr val="1E293B"/>
                    </a:solidFill>
                  </a:tcPr>
                </a:tc>
                <a:tc>
                  <a:txBody>
                    <a:bodyPr/>
                    <a:lstStyle/>
                    <a:p>
                      <a:pPr>
                        <a:defRPr sz="1100">
                          <a:solidFill>
                            <a:srgbClr val="F59E0B"/>
                          </a:solidFill>
                        </a:defRPr>
                      </a:pPr>
                      <a:r>
                        <a:t>CDK4</a:t>
                      </a:r>
                    </a:p>
                  </a:txBody>
                  <a:tcPr>
                    <a:solidFill>
                      <a:srgbClr val="1E293B"/>
                    </a:solidFill>
                  </a:tcPr>
                </a:tc>
                <a:tc>
                  <a:txBody>
                    <a:bodyPr/>
                    <a:lstStyle/>
                    <a:p>
                      <a:pPr>
                        <a:defRPr sz="1100">
                          <a:solidFill>
                            <a:srgbClr val="F59E0B"/>
                          </a:solidFill>
                        </a:defRPr>
                      </a:pPr>
                      <a:r>
                        <a:t>+0.336</a:t>
                      </a:r>
                    </a:p>
                  </a:txBody>
                  <a:tcPr>
                    <a:solidFill>
                      <a:srgbClr val="1E293B"/>
                    </a:solidFill>
                  </a:tcPr>
                </a:tc>
                <a:tc>
                  <a:txBody>
                    <a:bodyPr/>
                    <a:lstStyle/>
                    <a:p>
                      <a:pPr>
                        <a:defRPr sz="1100">
                          <a:solidFill>
                            <a:srgbClr val="F59E0B"/>
                          </a:solidFill>
                        </a:defRPr>
                      </a:pPr>
                      <a:r>
                        <a:t>WT-selective</a:t>
                      </a:r>
                    </a:p>
                  </a:txBody>
                  <a:tcPr>
                    <a:solidFill>
                      <a:srgbClr val="1E293B"/>
                    </a:solidFill>
                  </a:tcPr>
                </a:tc>
                <a:tc>
                  <a:txBody>
                    <a:bodyPr/>
                    <a:lstStyle/>
                    <a:p>
                      <a:pPr>
                        <a:defRPr sz="1100">
                          <a:solidFill>
                            <a:srgbClr val="F59E0B"/>
                          </a:solidFill>
                        </a:defRPr>
                      </a:pPr>
                      <a:r>
                        <a:t>0.0081</a:t>
                      </a:r>
                    </a:p>
                  </a:txBody>
                  <a:tcPr>
                    <a:solidFill>
                      <a:srgbClr val="1E293B"/>
                    </a:solidFill>
                  </a:tcPr>
                </a:tc>
                <a:tc>
                  <a:txBody>
                    <a:bodyPr/>
                    <a:lstStyle/>
                    <a:p>
                      <a:pPr>
                        <a:defRPr sz="1100">
                          <a:solidFill>
                            <a:srgbClr val="8B5CF6"/>
                          </a:solidFill>
                        </a:defRPr>
                      </a:pPr>
                      <a:r>
                        <a:t>WT Control (Validated)</a:t>
                      </a:r>
                    </a:p>
                  </a:txBody>
                  <a:tcPr>
                    <a:solidFill>
                      <a:srgbClr val="1E293B"/>
                    </a:solidFill>
                  </a:tcPr>
                </a:tc>
              </a:tr>
              <a:tr h="548640">
                <a:tc>
                  <a:txBody>
                    <a:bodyPr/>
                    <a:lstStyle/>
                    <a:p>
                      <a:pPr>
                        <a:defRPr sz="1100">
                          <a:solidFill>
                            <a:srgbClr val="F59E0B"/>
                          </a:solidFill>
                        </a:defRPr>
                      </a:pPr>
                      <a:r>
                        <a:t>RB1</a:t>
                      </a:r>
                    </a:p>
                  </a:txBody>
                  <a:tcPr>
                    <a:solidFill>
                      <a:srgbClr val="1E293B"/>
                    </a:solidFill>
                  </a:tcPr>
                </a:tc>
                <a:tc>
                  <a:txBody>
                    <a:bodyPr/>
                    <a:lstStyle/>
                    <a:p>
                      <a:pPr>
                        <a:defRPr sz="1100">
                          <a:solidFill>
                            <a:srgbClr val="F59E0B"/>
                          </a:solidFill>
                        </a:defRPr>
                      </a:pPr>
                      <a:r>
                        <a:t>SKP2</a:t>
                      </a:r>
                    </a:p>
                  </a:txBody>
                  <a:tcPr>
                    <a:solidFill>
                      <a:srgbClr val="1E293B"/>
                    </a:solidFill>
                  </a:tcPr>
                </a:tc>
                <a:tc>
                  <a:txBody>
                    <a:bodyPr/>
                    <a:lstStyle/>
                    <a:p>
                      <a:pPr>
                        <a:defRPr sz="1100">
                          <a:solidFill>
                            <a:srgbClr val="F59E0B"/>
                          </a:solidFill>
                        </a:defRPr>
                      </a:pPr>
                      <a:r>
                        <a:t>-0.317</a:t>
                      </a:r>
                    </a:p>
                  </a:txBody>
                  <a:tcPr>
                    <a:solidFill>
                      <a:srgbClr val="1E293B"/>
                    </a:solidFill>
                  </a:tcPr>
                </a:tc>
                <a:tc>
                  <a:txBody>
                    <a:bodyPr/>
                    <a:lstStyle/>
                    <a:p>
                      <a:pPr>
                        <a:defRPr sz="1100">
                          <a:solidFill>
                            <a:srgbClr val="F59E0B"/>
                          </a:solidFill>
                        </a:defRPr>
                      </a:pPr>
                      <a:r>
                        <a:t>mutant-selective</a:t>
                      </a:r>
                    </a:p>
                  </a:txBody>
                  <a:tcPr>
                    <a:solidFill>
                      <a:srgbClr val="1E293B"/>
                    </a:solidFill>
                  </a:tcPr>
                </a:tc>
                <a:tc>
                  <a:txBody>
                    <a:bodyPr/>
                    <a:lstStyle/>
                    <a:p>
                      <a:pPr>
                        <a:defRPr sz="1100">
                          <a:solidFill>
                            <a:srgbClr val="F59E0B"/>
                          </a:solidFill>
                        </a:defRPr>
                      </a:pPr>
                      <a:r>
                        <a:t>0.0081</a:t>
                      </a:r>
                    </a:p>
                  </a:txBody>
                  <a:tcPr>
                    <a:solidFill>
                      <a:srgbClr val="1E293B"/>
                    </a:solidFill>
                  </a:tcPr>
                </a:tc>
                <a:tc>
                  <a:txBody>
                    <a:bodyPr/>
                    <a:lstStyle/>
                    <a:p>
                      <a:pPr>
                        <a:defRPr sz="1100">
                          <a:solidFill>
                            <a:srgbClr val="22C55E"/>
                          </a:solidFill>
                        </a:defRPr>
                      </a:pPr>
                      <a:r>
                        <a:t>Mutant-Selective (Validated)</a:t>
                      </a:r>
                    </a:p>
                  </a:txBody>
                  <a:tcPr>
                    <a:solidFill>
                      <a:srgbClr val="1E293B"/>
                    </a:solidFill>
                  </a:tcPr>
                </a:tc>
              </a:tr>
              <a:tr h="548640">
                <a:tc>
                  <a:txBody>
                    <a:bodyPr/>
                    <a:lstStyle/>
                    <a:p>
                      <a:pPr>
                        <a:defRPr sz="1100">
                          <a:solidFill>
                            <a:srgbClr val="F59E0B"/>
                          </a:solidFill>
                        </a:defRPr>
                      </a:pPr>
                      <a:r>
                        <a:t>RB1</a:t>
                      </a:r>
                    </a:p>
                  </a:txBody>
                  <a:tcPr>
                    <a:solidFill>
                      <a:srgbClr val="1E293B"/>
                    </a:solidFill>
                  </a:tcPr>
                </a:tc>
                <a:tc>
                  <a:txBody>
                    <a:bodyPr/>
                    <a:lstStyle/>
                    <a:p>
                      <a:pPr>
                        <a:defRPr sz="1100">
                          <a:solidFill>
                            <a:srgbClr val="F59E0B"/>
                          </a:solidFill>
                        </a:defRPr>
                      </a:pPr>
                      <a:r>
                        <a:t>CCNE2</a:t>
                      </a:r>
                    </a:p>
                  </a:txBody>
                  <a:tcPr>
                    <a:solidFill>
                      <a:srgbClr val="1E293B"/>
                    </a:solidFill>
                  </a:tcPr>
                </a:tc>
                <a:tc>
                  <a:txBody>
                    <a:bodyPr/>
                    <a:lstStyle/>
                    <a:p>
                      <a:pPr>
                        <a:defRPr sz="1100">
                          <a:solidFill>
                            <a:srgbClr val="F59E0B"/>
                          </a:solidFill>
                        </a:defRPr>
                      </a:pPr>
                      <a:r>
                        <a:t>-0.152</a:t>
                      </a:r>
                    </a:p>
                  </a:txBody>
                  <a:tcPr>
                    <a:solidFill>
                      <a:srgbClr val="1E293B"/>
                    </a:solidFill>
                  </a:tcPr>
                </a:tc>
                <a:tc>
                  <a:txBody>
                    <a:bodyPr/>
                    <a:lstStyle/>
                    <a:p>
                      <a:pPr>
                        <a:defRPr sz="1100">
                          <a:solidFill>
                            <a:srgbClr val="F59E0B"/>
                          </a:solidFill>
                        </a:defRPr>
                      </a:pPr>
                      <a:r>
                        <a:t>mutant-selective</a:t>
                      </a:r>
                    </a:p>
                  </a:txBody>
                  <a:tcPr>
                    <a:solidFill>
                      <a:srgbClr val="1E293B"/>
                    </a:solidFill>
                  </a:tcPr>
                </a:tc>
                <a:tc>
                  <a:txBody>
                    <a:bodyPr/>
                    <a:lstStyle/>
                    <a:p>
                      <a:pPr>
                        <a:defRPr sz="1100">
                          <a:solidFill>
                            <a:srgbClr val="F59E0B"/>
                          </a:solidFill>
                        </a:defRPr>
                      </a:pPr>
                      <a:r>
                        <a:t>0.0127</a:t>
                      </a:r>
                    </a:p>
                  </a:txBody>
                  <a:tcPr>
                    <a:solidFill>
                      <a:srgbClr val="1E293B"/>
                    </a:solidFill>
                  </a:tcPr>
                </a:tc>
                <a:tc>
                  <a:txBody>
                    <a:bodyPr/>
                    <a:lstStyle/>
                    <a:p>
                      <a:pPr>
                        <a:defRPr sz="1100">
                          <a:solidFill>
                            <a:srgbClr val="22C55E"/>
                          </a:solidFill>
                        </a:defRPr>
                      </a:pPr>
                      <a:r>
                        <a:t>Mutant-Selective (Validated)</a:t>
                      </a:r>
                    </a:p>
                  </a:txBody>
                  <a:tcPr>
                    <a:solidFill>
                      <a:srgbClr val="1E293B"/>
                    </a:solidFill>
                  </a:tcPr>
                </a:tc>
              </a:tr>
              <a:tr h="548640">
                <a:tc>
                  <a:txBody>
                    <a:bodyPr/>
                    <a:lstStyle/>
                    <a:p>
                      <a:pPr>
                        <a:defRPr sz="1100">
                          <a:solidFill>
                            <a:srgbClr val="F59E0B"/>
                          </a:solidFill>
                        </a:defRPr>
                      </a:pPr>
                      <a:r>
                        <a:t>RB1</a:t>
                      </a:r>
                    </a:p>
                  </a:txBody>
                  <a:tcPr>
                    <a:solidFill>
                      <a:srgbClr val="1E293B"/>
                    </a:solidFill>
                  </a:tcPr>
                </a:tc>
                <a:tc>
                  <a:txBody>
                    <a:bodyPr/>
                    <a:lstStyle/>
                    <a:p>
                      <a:pPr>
                        <a:defRPr sz="1100">
                          <a:solidFill>
                            <a:srgbClr val="F59E0B"/>
                          </a:solidFill>
                        </a:defRPr>
                      </a:pPr>
                      <a:r>
                        <a:t>E2F4</a:t>
                      </a:r>
                    </a:p>
                  </a:txBody>
                  <a:tcPr>
                    <a:solidFill>
                      <a:srgbClr val="1E293B"/>
                    </a:solidFill>
                  </a:tcPr>
                </a:tc>
                <a:tc>
                  <a:txBody>
                    <a:bodyPr/>
                    <a:lstStyle/>
                    <a:p>
                      <a:pPr>
                        <a:defRPr sz="1100">
                          <a:solidFill>
                            <a:srgbClr val="F59E0B"/>
                          </a:solidFill>
                        </a:defRPr>
                      </a:pPr>
                      <a:r>
                        <a:t>-0.127</a:t>
                      </a:r>
                    </a:p>
                  </a:txBody>
                  <a:tcPr>
                    <a:solidFill>
                      <a:srgbClr val="1E293B"/>
                    </a:solidFill>
                  </a:tcPr>
                </a:tc>
                <a:tc>
                  <a:txBody>
                    <a:bodyPr/>
                    <a:lstStyle/>
                    <a:p>
                      <a:pPr>
                        <a:defRPr sz="1100">
                          <a:solidFill>
                            <a:srgbClr val="F59E0B"/>
                          </a:solidFill>
                        </a:defRPr>
                      </a:pPr>
                      <a:r>
                        <a:t>mutant-selective</a:t>
                      </a:r>
                    </a:p>
                  </a:txBody>
                  <a:tcPr>
                    <a:solidFill>
                      <a:srgbClr val="1E293B"/>
                    </a:solidFill>
                  </a:tcPr>
                </a:tc>
                <a:tc>
                  <a:txBody>
                    <a:bodyPr/>
                    <a:lstStyle/>
                    <a:p>
                      <a:pPr>
                        <a:defRPr sz="1100">
                          <a:solidFill>
                            <a:srgbClr val="F59E0B"/>
                          </a:solidFill>
                        </a:defRPr>
                      </a:pPr>
                      <a:r>
                        <a:t>0.0127</a:t>
                      </a:r>
                    </a:p>
                  </a:txBody>
                  <a:tcPr>
                    <a:solidFill>
                      <a:srgbClr val="1E293B"/>
                    </a:solidFill>
                  </a:tcPr>
                </a:tc>
                <a:tc>
                  <a:txBody>
                    <a:bodyPr/>
                    <a:lstStyle/>
                    <a:p>
                      <a:pPr>
                        <a:defRPr sz="1100">
                          <a:solidFill>
                            <a:srgbClr val="22C55E"/>
                          </a:solidFill>
                        </a:defRPr>
                      </a:pPr>
                      <a:r>
                        <a:t>Mutant-Selective (Validated)</a:t>
                      </a:r>
                    </a:p>
                  </a:txBody>
                  <a:tcPr>
                    <a:solidFill>
                      <a:srgbClr val="1E293B"/>
                    </a:solidFill>
                  </a:tcPr>
                </a:tc>
              </a:tr>
              <a:tr h="548640">
                <a:tc>
                  <a:txBody>
                    <a:bodyPr/>
                    <a:lstStyle/>
                    <a:p>
                      <a:pPr>
                        <a:defRPr sz="1100">
                          <a:solidFill>
                            <a:srgbClr val="F59E0B"/>
                          </a:solidFill>
                        </a:defRPr>
                      </a:pPr>
                      <a:r>
                        <a:t>RB1</a:t>
                      </a:r>
                    </a:p>
                  </a:txBody>
                  <a:tcPr>
                    <a:solidFill>
                      <a:srgbClr val="1E293B"/>
                    </a:solidFill>
                  </a:tcPr>
                </a:tc>
                <a:tc>
                  <a:txBody>
                    <a:bodyPr/>
                    <a:lstStyle/>
                    <a:p>
                      <a:pPr>
                        <a:defRPr sz="1100">
                          <a:solidFill>
                            <a:srgbClr val="F59E0B"/>
                          </a:solidFill>
                        </a:defRPr>
                      </a:pPr>
                      <a:r>
                        <a:t>AURKB</a:t>
                      </a:r>
                    </a:p>
                  </a:txBody>
                  <a:tcPr>
                    <a:solidFill>
                      <a:srgbClr val="1E293B"/>
                    </a:solidFill>
                  </a:tcPr>
                </a:tc>
                <a:tc>
                  <a:txBody>
                    <a:bodyPr/>
                    <a:lstStyle/>
                    <a:p>
                      <a:pPr>
                        <a:defRPr sz="1100">
                          <a:solidFill>
                            <a:srgbClr val="F59E0B"/>
                          </a:solidFill>
                        </a:defRPr>
                      </a:pPr>
                      <a:r>
                        <a:t>-0.120</a:t>
                      </a:r>
                    </a:p>
                  </a:txBody>
                  <a:tcPr>
                    <a:solidFill>
                      <a:srgbClr val="1E293B"/>
                    </a:solidFill>
                  </a:tcPr>
                </a:tc>
                <a:tc>
                  <a:txBody>
                    <a:bodyPr/>
                    <a:lstStyle/>
                    <a:p>
                      <a:pPr>
                        <a:defRPr sz="1100">
                          <a:solidFill>
                            <a:srgbClr val="F59E0B"/>
                          </a:solidFill>
                        </a:defRPr>
                      </a:pPr>
                      <a:r>
                        <a:t>mutant-selective</a:t>
                      </a:r>
                    </a:p>
                  </a:txBody>
                  <a:tcPr>
                    <a:solidFill>
                      <a:srgbClr val="1E293B"/>
                    </a:solidFill>
                  </a:tcPr>
                </a:tc>
                <a:tc>
                  <a:txBody>
                    <a:bodyPr/>
                    <a:lstStyle/>
                    <a:p>
                      <a:pPr>
                        <a:defRPr sz="1100">
                          <a:solidFill>
                            <a:srgbClr val="F59E0B"/>
                          </a:solidFill>
                        </a:defRPr>
                      </a:pPr>
                      <a:r>
                        <a:t>0.5487</a:t>
                      </a:r>
                    </a:p>
                  </a:txBody>
                  <a:tcPr>
                    <a:solidFill>
                      <a:srgbClr val="1E293B"/>
                    </a:solidFill>
                  </a:tcPr>
                </a:tc>
                <a:tc>
                  <a:txBody>
                    <a:bodyPr/>
                    <a:lstStyle/>
                    <a:p>
                      <a:pPr>
                        <a:defRPr sz="1100">
                          <a:solidFill>
                            <a:srgbClr val="F59E0B"/>
                          </a:solidFill>
                        </a:defRPr>
                      </a:pPr>
                      <a:r>
                        <a:t>Non-Significant (Not Supported)</a:t>
                      </a:r>
                    </a:p>
                  </a:txBody>
                  <a:tcPr>
                    <a:solidFill>
                      <a:srgbClr val="1E293B"/>
                    </a:solidFill>
                  </a:tcPr>
                </a:tc>
              </a:tr>
            </a:tbl>
          </a:graphicData>
        </a:graphic>
      </p:graphicFrame>
      <p:sp>
        <p:nvSpPr>
          <p:cNvPr id="4" name="Rounded Rectangle 3"/>
          <p:cNvSpPr/>
          <p:nvPr/>
        </p:nvSpPr>
        <p:spPr>
          <a:xfrm>
            <a:off x="731520" y="5577840"/>
            <a:ext cx="10728655" cy="822960"/>
          </a:xfrm>
          <a:prstGeom prst="roundRect">
            <a:avLst/>
          </a:prstGeom>
          <a:solidFill>
            <a:srgbClr val="191428"/>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05840" y="5669280"/>
            <a:ext cx="10180015" cy="640080"/>
          </a:xfrm>
          <a:prstGeom prst="rect">
            <a:avLst/>
          </a:prstGeom>
          <a:noFill/>
        </p:spPr>
        <p:txBody>
          <a:bodyPr wrap="square">
            <a:spAutoFit/>
          </a:bodyPr>
          <a:lstStyle/>
          <a:p>
            <a:pPr>
              <a:defRPr sz="1200">
                <a:solidFill>
                  <a:srgbClr val="F8FAFC"/>
                </a:solidFill>
              </a:defRPr>
            </a:pPr>
            <a:r>
              <a:t>Mechanism Resolution: DEMETER2 RNAi data confirms mutant-selectivity for the RB–E2F axis (SKP2, CCNE2, E2F4, AKT1) and CDK4/6 WT controls, but does NOT support AURKB (q = 0.55) or PLK1.</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731520" y="457200"/>
            <a:ext cx="10728655" cy="1005840"/>
          </a:xfrm>
          <a:prstGeom prst="rect">
            <a:avLst/>
          </a:prstGeom>
          <a:noFill/>
        </p:spPr>
        <p:txBody>
          <a:bodyPr wrap="square" lIns="0" tIns="0" rIns="0" bIns="0">
            <a:spAutoFit/>
          </a:bodyPr>
          <a:lstStyle/>
          <a:p>
            <a:pPr>
              <a:defRPr sz="2400" b="1">
                <a:solidFill>
                  <a:srgbClr val="06B6D4"/>
                </a:solidFill>
                <a:latin typeface="Arial"/>
              </a:defRPr>
            </a:pPr>
            <a:r>
              <a:t>Primitive Feature Engineering Hierarchy</a:t>
            </a:r>
          </a:p>
          <a:p>
            <a:pPr>
              <a:spcBef>
                <a:spcPts val="400"/>
              </a:spcBef>
              <a:defRPr sz="1300">
                <a:solidFill>
                  <a:srgbClr val="94A3B8"/>
                </a:solidFill>
                <a:latin typeface="Arial"/>
              </a:defRPr>
            </a:pPr>
            <a:r>
              <a:t>From Raw Laboratory Readouts to Stratified Selectivity Features</a:t>
            </a:r>
          </a:p>
        </p:txBody>
      </p:sp>
      <p:sp>
        <p:nvSpPr>
          <p:cNvPr id="3" name="Rounded Rectangle 2"/>
          <p:cNvSpPr/>
          <p:nvPr/>
        </p:nvSpPr>
        <p:spPr>
          <a:xfrm>
            <a:off x="731520" y="1645920"/>
            <a:ext cx="3383280" cy="4572000"/>
          </a:xfrm>
          <a:prstGeom prst="roundRect">
            <a:avLst/>
          </a:prstGeom>
          <a:solidFill>
            <a:srgbClr val="1E293B"/>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28800"/>
            <a:ext cx="3017520" cy="4206240"/>
          </a:xfrm>
          <a:prstGeom prst="rect">
            <a:avLst/>
          </a:prstGeom>
          <a:noFill/>
        </p:spPr>
        <p:txBody>
          <a:bodyPr wrap="square">
            <a:spAutoFit/>
          </a:bodyPr>
          <a:lstStyle/>
          <a:p>
            <a:pPr>
              <a:defRPr sz="1600" b="1">
                <a:solidFill>
                  <a:srgbClr val="06B6D4"/>
                </a:solidFill>
              </a:defRPr>
            </a:pPr>
            <a:r>
              <a:t>Tier 1: Raw Primitives</a:t>
            </a:r>
          </a:p>
          <a:p>
            <a:pPr>
              <a:spcBef>
                <a:spcPts val="1000"/>
              </a:spcBef>
              <a:defRPr sz="1200">
                <a:solidFill>
                  <a:srgbClr val="94A3B8"/>
                </a:solidFill>
              </a:defRPr>
            </a:pPr>
            <a:r>
              <a:t>• Dose / Concentration (C_k)</a:t>
            </a:r>
          </a:p>
          <a:p>
            <a:pPr>
              <a:spcBef>
                <a:spcPts val="1000"/>
              </a:spcBef>
              <a:defRPr sz="1200">
                <a:solidFill>
                  <a:srgbClr val="94A3B8"/>
                </a:solidFill>
              </a:defRPr>
            </a:pPr>
            <a:r>
              <a:t>• Readout Signal (I_k)</a:t>
            </a:r>
          </a:p>
          <a:p>
            <a:pPr>
              <a:spcBef>
                <a:spcPts val="1000"/>
              </a:spcBef>
              <a:defRPr sz="1200">
                <a:solidFill>
                  <a:srgbClr val="94A3B8"/>
                </a:solidFill>
              </a:defRPr>
            </a:pPr>
            <a:r>
              <a:t>• Negative Control (I_DMSO)</a:t>
            </a:r>
          </a:p>
          <a:p>
            <a:pPr>
              <a:spcBef>
                <a:spcPts val="1000"/>
              </a:spcBef>
              <a:defRPr sz="1200">
                <a:solidFill>
                  <a:srgbClr val="94A3B8"/>
                </a:solidFill>
              </a:defRPr>
            </a:pPr>
            <a:r>
              <a:t>• Positive Control (I_pos)</a:t>
            </a:r>
          </a:p>
          <a:p>
            <a:pPr>
              <a:spcBef>
                <a:spcPts val="1000"/>
              </a:spcBef>
              <a:defRPr sz="1200">
                <a:solidFill>
                  <a:srgbClr val="94A3B8"/>
                </a:solidFill>
              </a:defRPr>
            </a:pPr>
            <a:r>
              <a:t>• Initial Time Zero (I_t0)</a:t>
            </a:r>
          </a:p>
        </p:txBody>
      </p:sp>
      <p:sp>
        <p:nvSpPr>
          <p:cNvPr id="5" name="Rounded Rectangle 4"/>
          <p:cNvSpPr/>
          <p:nvPr/>
        </p:nvSpPr>
        <p:spPr>
          <a:xfrm>
            <a:off x="4389120" y="1645920"/>
            <a:ext cx="3383280" cy="4572000"/>
          </a:xfrm>
          <a:prstGeom prst="roundRect">
            <a:avLst/>
          </a:prstGeom>
          <a:solidFill>
            <a:srgbClr val="1E293B"/>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0" y="1828800"/>
            <a:ext cx="3017520" cy="4206240"/>
          </a:xfrm>
          <a:prstGeom prst="rect">
            <a:avLst/>
          </a:prstGeom>
          <a:noFill/>
        </p:spPr>
        <p:txBody>
          <a:bodyPr wrap="square">
            <a:spAutoFit/>
          </a:bodyPr>
          <a:lstStyle/>
          <a:p>
            <a:pPr>
              <a:defRPr sz="1600" b="1">
                <a:solidFill>
                  <a:srgbClr val="8B5CF6"/>
                </a:solidFill>
              </a:defRPr>
            </a:pPr>
            <a:r>
              <a:t>Tier 2: Fitted 4PL Parameters</a:t>
            </a:r>
          </a:p>
          <a:p>
            <a:pPr>
              <a:spcBef>
                <a:spcPts val="1000"/>
              </a:spcBef>
              <a:defRPr sz="1200">
                <a:solidFill>
                  <a:srgbClr val="94A3B8"/>
                </a:solidFill>
              </a:defRPr>
            </a:pPr>
            <a:r>
              <a:t>• Upper Asymptote (y_max)</a:t>
            </a:r>
          </a:p>
          <a:p>
            <a:pPr>
              <a:spcBef>
                <a:spcPts val="1000"/>
              </a:spcBef>
              <a:defRPr sz="1200">
                <a:solidFill>
                  <a:srgbClr val="94A3B8"/>
                </a:solidFill>
              </a:defRPr>
            </a:pPr>
            <a:r>
              <a:t>• Lower Asymptote (y_min)</a:t>
            </a:r>
          </a:p>
          <a:p>
            <a:pPr>
              <a:spcBef>
                <a:spcPts val="1000"/>
              </a:spcBef>
              <a:defRPr sz="1200">
                <a:solidFill>
                  <a:srgbClr val="94A3B8"/>
                </a:solidFill>
              </a:defRPr>
            </a:pPr>
            <a:r>
              <a:t>• Inflection Potency (EC50)</a:t>
            </a:r>
          </a:p>
          <a:p>
            <a:pPr>
              <a:spcBef>
                <a:spcPts val="1000"/>
              </a:spcBef>
              <a:defRPr sz="1200">
                <a:solidFill>
                  <a:srgbClr val="94A3B8"/>
                </a:solidFill>
              </a:defRPr>
            </a:pPr>
            <a:r>
              <a:t>• Hill Slope (h)</a:t>
            </a:r>
          </a:p>
          <a:p>
            <a:pPr>
              <a:spcBef>
                <a:spcPts val="1000"/>
              </a:spcBef>
              <a:defRPr sz="1200">
                <a:solidFill>
                  <a:srgbClr val="94A3B8"/>
                </a:solidFill>
              </a:defRPr>
            </a:pPr>
            <a:r>
              <a:t>• Response Span (Emax)</a:t>
            </a:r>
          </a:p>
        </p:txBody>
      </p:sp>
      <p:sp>
        <p:nvSpPr>
          <p:cNvPr id="7" name="Rounded Rectangle 6"/>
          <p:cNvSpPr/>
          <p:nvPr/>
        </p:nvSpPr>
        <p:spPr>
          <a:xfrm>
            <a:off x="8046720" y="1645920"/>
            <a:ext cx="3383280" cy="4572000"/>
          </a:xfrm>
          <a:prstGeom prst="roundRect">
            <a:avLst/>
          </a:prstGeom>
          <a:solidFill>
            <a:srgbClr val="0F1928"/>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0" y="1828800"/>
            <a:ext cx="3017520" cy="4206240"/>
          </a:xfrm>
          <a:prstGeom prst="rect">
            <a:avLst/>
          </a:prstGeom>
          <a:noFill/>
        </p:spPr>
        <p:txBody>
          <a:bodyPr wrap="square">
            <a:spAutoFit/>
          </a:bodyPr>
          <a:lstStyle/>
          <a:p>
            <a:pPr>
              <a:defRPr sz="1600" b="1">
                <a:solidFill>
                  <a:srgbClr val="F59E0B"/>
                </a:solidFill>
              </a:defRPr>
            </a:pPr>
            <a:r>
              <a:t>Tier 3 &amp; 4: Operational Metrics</a:t>
            </a:r>
          </a:p>
          <a:p>
            <a:pPr>
              <a:spcBef>
                <a:spcPts val="1000"/>
              </a:spcBef>
              <a:defRPr sz="1200">
                <a:solidFill>
                  <a:srgbClr val="F8FAFC"/>
                </a:solidFill>
              </a:defRPr>
            </a:pPr>
            <a:r>
              <a:t>• S′ Index = asinh((Emax/EC50)×1µM)</a:t>
            </a:r>
          </a:p>
          <a:p>
            <a:pPr>
              <a:spcBef>
                <a:spcPts val="1000"/>
              </a:spcBef>
              <a:defRPr sz="1200">
                <a:solidFill>
                  <a:srgbClr val="F8FAFC"/>
                </a:solidFill>
              </a:defRPr>
            </a:pPr>
            <a:r>
              <a:t>• Absolute IC50 (requires y_min &lt; 50%)</a:t>
            </a:r>
          </a:p>
          <a:p>
            <a:pPr>
              <a:spcBef>
                <a:spcPts val="1000"/>
              </a:spcBef>
              <a:defRPr sz="1200">
                <a:solidFill>
                  <a:srgbClr val="F8FAFC"/>
                </a:solidFill>
              </a:defRPr>
            </a:pPr>
            <a:r>
              <a:t>• Area Under Curve (AUC)</a:t>
            </a:r>
          </a:p>
          <a:p>
            <a:pPr>
              <a:spcBef>
                <a:spcPts val="1000"/>
              </a:spcBef>
              <a:defRPr sz="1200">
                <a:solidFill>
                  <a:srgbClr val="F8FAFC"/>
                </a:solidFill>
              </a:defRPr>
            </a:pPr>
            <a:r>
              <a:t>• Growth Rate 50 (GR50)</a:t>
            </a:r>
          </a:p>
          <a:p>
            <a:pPr>
              <a:spcBef>
                <a:spcPts val="1000"/>
              </a:spcBef>
              <a:defRPr sz="1200">
                <a:solidFill>
                  <a:srgbClr val="F8FAFC"/>
                </a:solidFill>
              </a:defRPr>
            </a:pPr>
            <a:r>
              <a:t>• Differential Contrast (ΔpS′)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731520" y="457200"/>
            <a:ext cx="10728655" cy="1005840"/>
          </a:xfrm>
          <a:prstGeom prst="rect">
            <a:avLst/>
          </a:prstGeom>
          <a:noFill/>
        </p:spPr>
        <p:txBody>
          <a:bodyPr wrap="square" lIns="0" tIns="0" rIns="0" bIns="0">
            <a:spAutoFit/>
          </a:bodyPr>
          <a:lstStyle/>
          <a:p>
            <a:pPr>
              <a:defRPr sz="2400" b="1">
                <a:solidFill>
                  <a:srgbClr val="06B6D4"/>
                </a:solidFill>
                <a:latin typeface="Arial"/>
              </a:defRPr>
            </a:pPr>
            <a:r>
              <a:t>Referee Review Issue Resolution Matrix</a:t>
            </a:r>
          </a:p>
          <a:p>
            <a:pPr>
              <a:spcBef>
                <a:spcPts val="400"/>
              </a:spcBef>
              <a:defRPr sz="1300">
                <a:solidFill>
                  <a:srgbClr val="94A3B8"/>
                </a:solidFill>
                <a:latin typeface="Arial"/>
              </a:defRPr>
            </a:pPr>
            <a:r>
              <a:t>Summary of Code Fixes and Diagnosed Findings</a:t>
            </a:r>
          </a:p>
        </p:txBody>
      </p:sp>
      <p:graphicFrame>
        <p:nvGraphicFramePr>
          <p:cNvPr id="3" name="Table 2"/>
          <p:cNvGraphicFramePr>
            <a:graphicFrameLocks noGrp="1"/>
          </p:cNvGraphicFramePr>
          <p:nvPr/>
        </p:nvGraphicFramePr>
        <p:xfrm>
          <a:off x="731520" y="1645920"/>
          <a:ext cx="10728655" cy="4389120"/>
        </p:xfrm>
        <a:graphic>
          <a:graphicData uri="http://schemas.openxmlformats.org/drawingml/2006/table">
            <a:tbl>
              <a:tblPr firstRow="1" bandRow="1">
                <a:tableStyleId>{5C22544A-7EE6-4342-B048-85BDC9FD1C3A}</a:tableStyleId>
              </a:tblPr>
              <a:tblGrid>
                <a:gridCol w="2682163"/>
                <a:gridCol w="2682163"/>
                <a:gridCol w="2682163"/>
                <a:gridCol w="2682166"/>
              </a:tblGrid>
              <a:tr h="627017">
                <a:tc>
                  <a:txBody>
                    <a:bodyPr/>
                    <a:lstStyle/>
                    <a:p>
                      <a:pPr>
                        <a:defRPr sz="1100" b="1">
                          <a:solidFill>
                            <a:srgbClr val="06B6D4"/>
                          </a:solidFill>
                        </a:defRPr>
                      </a:pPr>
                      <a:r>
                        <a:t>Review Issue</a:t>
                      </a:r>
                    </a:p>
                  </a:txBody>
                  <a:tcPr>
                    <a:solidFill>
                      <a:srgbClr val="0F172A"/>
                    </a:solidFill>
                  </a:tcPr>
                </a:tc>
                <a:tc>
                  <a:txBody>
                    <a:bodyPr/>
                    <a:lstStyle/>
                    <a:p>
                      <a:pPr>
                        <a:defRPr sz="1100" b="1">
                          <a:solidFill>
                            <a:srgbClr val="06B6D4"/>
                          </a:solidFill>
                        </a:defRPr>
                      </a:pPr>
                      <a:r>
                        <a:t>Manuscript Flaw</a:t>
                      </a:r>
                    </a:p>
                  </a:txBody>
                  <a:tcPr>
                    <a:solidFill>
                      <a:srgbClr val="0F172A"/>
                    </a:solidFill>
                  </a:tcPr>
                </a:tc>
                <a:tc>
                  <a:txBody>
                    <a:bodyPr/>
                    <a:lstStyle/>
                    <a:p>
                      <a:pPr>
                        <a:defRPr sz="1100" b="1">
                          <a:solidFill>
                            <a:srgbClr val="06B6D4"/>
                          </a:solidFill>
                        </a:defRPr>
                      </a:pPr>
                      <a:r>
                        <a:t>Repository Resolution</a:t>
                      </a:r>
                    </a:p>
                  </a:txBody>
                  <a:tcPr>
                    <a:solidFill>
                      <a:srgbClr val="0F172A"/>
                    </a:solidFill>
                  </a:tcPr>
                </a:tc>
                <a:tc>
                  <a:txBody>
                    <a:bodyPr/>
                    <a:lstStyle/>
                    <a:p>
                      <a:pPr>
                        <a:defRPr sz="1100" b="1">
                          <a:solidFill>
                            <a:srgbClr val="06B6D4"/>
                          </a:solidFill>
                        </a:defRPr>
                      </a:pPr>
                      <a:r>
                        <a:t>Status</a:t>
                      </a:r>
                    </a:p>
                  </a:txBody>
                  <a:tcPr>
                    <a:solidFill>
                      <a:srgbClr val="0F172A"/>
                    </a:solidFill>
                  </a:tcPr>
                </a:tc>
              </a:tr>
              <a:tr h="627017">
                <a:tc>
                  <a:txBody>
                    <a:bodyPr/>
                    <a:lstStyle/>
                    <a:p>
                      <a:pPr>
                        <a:defRPr sz="1100">
                          <a:solidFill>
                            <a:srgbClr val="22C55E"/>
                          </a:solidFill>
                        </a:defRPr>
                      </a:pPr>
                      <a:r>
                        <a:t>B1: Circular Benchmark</a:t>
                      </a:r>
                    </a:p>
                  </a:txBody>
                  <a:tcPr>
                    <a:solidFill>
                      <a:srgbClr val="1E293B"/>
                    </a:solidFill>
                  </a:tcPr>
                </a:tc>
                <a:tc>
                  <a:txBody>
                    <a:bodyPr/>
                    <a:lstStyle/>
                    <a:p>
                      <a:pPr>
                        <a:defRPr sz="1100">
                          <a:solidFill>
                            <a:srgbClr val="22C55E"/>
                          </a:solidFill>
                        </a:defRPr>
                      </a:pPr>
                      <a:r>
                        <a:t>100% recovery claim on self-selected data</a:t>
                      </a:r>
                    </a:p>
                  </a:txBody>
                  <a:tcPr>
                    <a:solidFill>
                      <a:srgbClr val="1E293B"/>
                    </a:solidFill>
                  </a:tcPr>
                </a:tc>
                <a:tc>
                  <a:txBody>
                    <a:bodyPr/>
                    <a:lstStyle/>
                    <a:p>
                      <a:pPr>
                        <a:defRPr sz="1100">
                          <a:solidFill>
                            <a:srgbClr val="22C55E"/>
                          </a:solidFill>
                        </a:defRPr>
                      </a:pPr>
                      <a:r>
                        <a:t>Built literature-blind benchmark scaffold in concordance/</a:t>
                      </a:r>
                    </a:p>
                  </a:txBody>
                  <a:tcPr>
                    <a:solidFill>
                      <a:srgbClr val="1E293B"/>
                    </a:solidFill>
                  </a:tcPr>
                </a:tc>
                <a:tc>
                  <a:txBody>
                    <a:bodyPr/>
                    <a:lstStyle/>
                    <a:p>
                      <a:pPr>
                        <a:defRPr sz="1100">
                          <a:solidFill>
                            <a:srgbClr val="22C55E"/>
                          </a:solidFill>
                        </a:defRPr>
                      </a:pPr>
                      <a:r>
                        <a:t>Code Fix</a:t>
                      </a:r>
                    </a:p>
                  </a:txBody>
                  <a:tcPr>
                    <a:solidFill>
                      <a:srgbClr val="1E293B"/>
                    </a:solidFill>
                  </a:tcPr>
                </a:tc>
              </a:tr>
              <a:tr h="627017">
                <a:tc>
                  <a:txBody>
                    <a:bodyPr/>
                    <a:lstStyle/>
                    <a:p>
                      <a:pPr>
                        <a:defRPr sz="1100">
                          <a:solidFill>
                            <a:srgbClr val="22C55E"/>
                          </a:solidFill>
                        </a:defRPr>
                      </a:pPr>
                      <a:r>
                        <a:t>B2: No Null Model</a:t>
                      </a:r>
                    </a:p>
                  </a:txBody>
                  <a:tcPr>
                    <a:solidFill>
                      <a:srgbClr val="1E293B"/>
                    </a:solidFill>
                  </a:tcPr>
                </a:tc>
                <a:tc>
                  <a:txBody>
                    <a:bodyPr/>
                    <a:lstStyle/>
                    <a:p>
                      <a:pPr>
                        <a:defRPr sz="1100">
                          <a:solidFill>
                            <a:srgbClr val="22C55E"/>
                          </a:solidFill>
                        </a:defRPr>
                      </a:pPr>
                      <a:r>
                        <a:t>Candidate window never tested against noise</a:t>
                      </a:r>
                    </a:p>
                  </a:txBody>
                  <a:tcPr>
                    <a:solidFill>
                      <a:srgbClr val="1E293B"/>
                    </a:solidFill>
                  </a:tcPr>
                </a:tc>
                <a:tc>
                  <a:txBody>
                    <a:bodyPr/>
                    <a:lstStyle/>
                    <a:p>
                      <a:pPr>
                        <a:defRPr sz="1100">
                          <a:solidFill>
                            <a:srgbClr val="22C55E"/>
                          </a:solidFill>
                        </a:defRPr>
                      </a:pPr>
                      <a:r>
                        <a:t>Added 2,000-perm null &amp; strict CI gates (73%–94% eliminated)</a:t>
                      </a:r>
                    </a:p>
                  </a:txBody>
                  <a:tcPr>
                    <a:solidFill>
                      <a:srgbClr val="1E293B"/>
                    </a:solidFill>
                  </a:tcPr>
                </a:tc>
                <a:tc>
                  <a:txBody>
                    <a:bodyPr/>
                    <a:lstStyle/>
                    <a:p>
                      <a:pPr>
                        <a:defRPr sz="1100">
                          <a:solidFill>
                            <a:srgbClr val="22C55E"/>
                          </a:solidFill>
                        </a:defRPr>
                      </a:pPr>
                      <a:r>
                        <a:t>Code Fix</a:t>
                      </a:r>
                    </a:p>
                  </a:txBody>
                  <a:tcPr>
                    <a:solidFill>
                      <a:srgbClr val="1E293B"/>
                    </a:solidFill>
                  </a:tcPr>
                </a:tc>
              </a:tr>
              <a:tr h="627017">
                <a:tc>
                  <a:txBody>
                    <a:bodyPr/>
                    <a:lstStyle/>
                    <a:p>
                      <a:pPr>
                        <a:defRPr sz="1100">
                          <a:solidFill>
                            <a:srgbClr val="22C55E"/>
                          </a:solidFill>
                        </a:defRPr>
                      </a:pPr>
                      <a:r>
                        <a:t>B3: Sensitivity Confound</a:t>
                      </a:r>
                    </a:p>
                  </a:txBody>
                  <a:tcPr>
                    <a:solidFill>
                      <a:srgbClr val="1E293B"/>
                    </a:solidFill>
                  </a:tcPr>
                </a:tc>
                <a:tc>
                  <a:txBody>
                    <a:bodyPr/>
                    <a:lstStyle/>
                    <a:p>
                      <a:pPr>
                        <a:defRPr sz="1100">
                          <a:solidFill>
                            <a:srgbClr val="22C55E"/>
                          </a:solidFill>
                        </a:defRPr>
                      </a:pPr>
                      <a:r>
                        <a:t>Untested baseline cell line sensitivity</a:t>
                      </a:r>
                    </a:p>
                  </a:txBody>
                  <a:tcPr>
                    <a:solidFill>
                      <a:srgbClr val="1E293B"/>
                    </a:solidFill>
                  </a:tcPr>
                </a:tc>
                <a:tc>
                  <a:txBody>
                    <a:bodyPr/>
                    <a:lstStyle/>
                    <a:p>
                      <a:pPr>
                        <a:defRPr sz="1100">
                          <a:solidFill>
                            <a:srgbClr val="22C55E"/>
                          </a:solidFill>
                        </a:defRPr>
                      </a:pPr>
                      <a:r>
                        <a:t>Implemented line-centering in blocking_analyses.py</a:t>
                      </a:r>
                    </a:p>
                  </a:txBody>
                  <a:tcPr>
                    <a:solidFill>
                      <a:srgbClr val="1E293B"/>
                    </a:solidFill>
                  </a:tcPr>
                </a:tc>
                <a:tc>
                  <a:txBody>
                    <a:bodyPr/>
                    <a:lstStyle/>
                    <a:p>
                      <a:pPr>
                        <a:defRPr sz="1100">
                          <a:solidFill>
                            <a:srgbClr val="22C55E"/>
                          </a:solidFill>
                        </a:defRPr>
                      </a:pPr>
                      <a:r>
                        <a:t>Code Fix</a:t>
                      </a:r>
                    </a:p>
                  </a:txBody>
                  <a:tcPr>
                    <a:solidFill>
                      <a:srgbClr val="1E293B"/>
                    </a:solidFill>
                  </a:tcPr>
                </a:tc>
              </a:tr>
              <a:tr h="627017">
                <a:tc>
                  <a:txBody>
                    <a:bodyPr/>
                    <a:lstStyle/>
                    <a:p>
                      <a:pPr>
                        <a:defRPr sz="1100">
                          <a:solidFill>
                            <a:srgbClr val="22C55E"/>
                          </a:solidFill>
                        </a:defRPr>
                      </a:pPr>
                      <a:r>
                        <a:t>B4: Worked Example</a:t>
                      </a:r>
                    </a:p>
                  </a:txBody>
                  <a:tcPr>
                    <a:solidFill>
                      <a:srgbClr val="1E293B"/>
                    </a:solidFill>
                  </a:tcPr>
                </a:tc>
                <a:tc>
                  <a:txBody>
                    <a:bodyPr/>
                    <a:lstStyle/>
                    <a:p>
                      <a:pPr>
                        <a:defRPr sz="1100">
                          <a:solidFill>
                            <a:srgbClr val="22C55E"/>
                          </a:solidFill>
                        </a:defRPr>
                      </a:pPr>
                      <a:r>
                        <a:t>Stated S′ = 7.382 (arithmetically wrong)</a:t>
                      </a:r>
                    </a:p>
                  </a:txBody>
                  <a:tcPr>
                    <a:solidFill>
                      <a:srgbClr val="1E293B"/>
                    </a:solidFill>
                  </a:tcPr>
                </a:tc>
                <a:tc>
                  <a:txBody>
                    <a:bodyPr/>
                    <a:lstStyle/>
                    <a:p>
                      <a:pPr>
                        <a:defRPr sz="1100">
                          <a:solidFill>
                            <a:srgbClr val="22C55E"/>
                          </a:solidFill>
                        </a:defRPr>
                      </a:pPr>
                      <a:r>
                        <a:t>Corrected to S′ = 6.7040 &amp; frozen assertion in tests/</a:t>
                      </a:r>
                    </a:p>
                  </a:txBody>
                  <a:tcPr>
                    <a:solidFill>
                      <a:srgbClr val="1E293B"/>
                    </a:solidFill>
                  </a:tcPr>
                </a:tc>
                <a:tc>
                  <a:txBody>
                    <a:bodyPr/>
                    <a:lstStyle/>
                    <a:p>
                      <a:pPr>
                        <a:defRPr sz="1100">
                          <a:solidFill>
                            <a:srgbClr val="22C55E"/>
                          </a:solidFill>
                        </a:defRPr>
                      </a:pPr>
                      <a:r>
                        <a:t>Code Fix</a:t>
                      </a:r>
                    </a:p>
                  </a:txBody>
                  <a:tcPr>
                    <a:solidFill>
                      <a:srgbClr val="1E293B"/>
                    </a:solidFill>
                  </a:tcPr>
                </a:tc>
              </a:tr>
              <a:tr h="627017">
                <a:tc>
                  <a:txBody>
                    <a:bodyPr/>
                    <a:lstStyle/>
                    <a:p>
                      <a:pPr>
                        <a:defRPr sz="1100">
                          <a:solidFill>
                            <a:srgbClr val="22C55E"/>
                          </a:solidFill>
                        </a:defRPr>
                      </a:pPr>
                      <a:r>
                        <a:t>M1: Flat-Curve Fits</a:t>
                      </a:r>
                    </a:p>
                  </a:txBody>
                  <a:tcPr>
                    <a:solidFill>
                      <a:srgbClr val="1E293B"/>
                    </a:solidFill>
                  </a:tcPr>
                </a:tc>
                <a:tc>
                  <a:txBody>
                    <a:bodyPr/>
                    <a:lstStyle/>
                    <a:p>
                      <a:pPr>
                        <a:defRPr sz="1100">
                          <a:solidFill>
                            <a:srgbClr val="22C55E"/>
                          </a:solidFill>
                        </a:defRPr>
                      </a:pPr>
                      <a:r>
                        <a:t>Non-credible hits (aspirin, ranitidine)</a:t>
                      </a:r>
                    </a:p>
                  </a:txBody>
                  <a:tcPr>
                    <a:solidFill>
                      <a:srgbClr val="1E293B"/>
                    </a:solidFill>
                  </a:tcPr>
                </a:tc>
                <a:tc>
                  <a:txBody>
                    <a:bodyPr/>
                    <a:lstStyle/>
                    <a:p>
                      <a:pPr>
                        <a:defRPr sz="1100">
                          <a:solidFill>
                            <a:srgbClr val="22C55E"/>
                          </a:solidFill>
                        </a:defRPr>
                      </a:pPr>
                      <a:r>
                        <a:t>Diagnosed mechanism showing flat curves survive CIs; fit filter needed</a:t>
                      </a:r>
                    </a:p>
                  </a:txBody>
                  <a:tcPr>
                    <a:solidFill>
                      <a:srgbClr val="1E293B"/>
                    </a:solidFill>
                  </a:tcPr>
                </a:tc>
                <a:tc>
                  <a:txBody>
                    <a:bodyPr/>
                    <a:lstStyle/>
                    <a:p>
                      <a:pPr>
                        <a:defRPr sz="1100">
                          <a:solidFill>
                            <a:srgbClr val="F59E0B"/>
                          </a:solidFill>
                        </a:defRPr>
                      </a:pPr>
                      <a:r>
                        <a:t>Diagnosis / Finding</a:t>
                      </a:r>
                    </a:p>
                  </a:txBody>
                  <a:tcPr>
                    <a:solidFill>
                      <a:srgbClr val="1E293B"/>
                    </a:solidFill>
                  </a:tcPr>
                </a:tc>
              </a:tr>
              <a:tr h="627018">
                <a:tc>
                  <a:txBody>
                    <a:bodyPr/>
                    <a:lstStyle/>
                    <a:p>
                      <a:pPr>
                        <a:defRPr sz="1100">
                          <a:solidFill>
                            <a:srgbClr val="22C55E"/>
                          </a:solidFill>
                        </a:defRPr>
                      </a:pPr>
                      <a:r>
                        <a:t>M9: RNAi Validation</a:t>
                      </a:r>
                    </a:p>
                  </a:txBody>
                  <a:tcPr>
                    <a:solidFill>
                      <a:srgbClr val="1E293B"/>
                    </a:solidFill>
                  </a:tcPr>
                </a:tc>
                <a:tc>
                  <a:txBody>
                    <a:bodyPr/>
                    <a:lstStyle/>
                    <a:p>
                      <a:pPr>
                        <a:defRPr sz="1100">
                          <a:solidFill>
                            <a:srgbClr val="22C55E"/>
                          </a:solidFill>
                        </a:defRPr>
                      </a:pPr>
                      <a:r>
                        <a:t>Cited AURKB as RNAi-validated</a:t>
                      </a:r>
                    </a:p>
                  </a:txBody>
                  <a:tcPr>
                    <a:solidFill>
                      <a:srgbClr val="1E293B"/>
                    </a:solidFill>
                  </a:tcPr>
                </a:tc>
                <a:tc>
                  <a:txBody>
                    <a:bodyPr/>
                    <a:lstStyle/>
                    <a:p>
                      <a:pPr>
                        <a:defRPr sz="1100">
                          <a:solidFill>
                            <a:srgbClr val="22C55E"/>
                          </a:solidFill>
                        </a:defRPr>
                      </a:pPr>
                      <a:r>
                        <a:t>Corrected support to RB–E2F axis (SKP2, CCNE2) &amp; CDK4/6 controls</a:t>
                      </a:r>
                    </a:p>
                  </a:txBody>
                  <a:tcPr>
                    <a:solidFill>
                      <a:srgbClr val="1E293B"/>
                    </a:solidFill>
                  </a:tcPr>
                </a:tc>
                <a:tc>
                  <a:txBody>
                    <a:bodyPr/>
                    <a:lstStyle/>
                    <a:p>
                      <a:pPr>
                        <a:defRPr sz="1100">
                          <a:solidFill>
                            <a:srgbClr val="22C55E"/>
                          </a:solidFill>
                        </a:defRPr>
                      </a:pPr>
                      <a:r>
                        <a:t>Code Fix</a:t>
                      </a:r>
                    </a:p>
                  </a:txBody>
                  <a:tcPr>
                    <a:solidFill>
                      <a:srgbClr val="1E293B"/>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731520" y="457200"/>
            <a:ext cx="10728655" cy="1005840"/>
          </a:xfrm>
          <a:prstGeom prst="rect">
            <a:avLst/>
          </a:prstGeom>
          <a:noFill/>
        </p:spPr>
        <p:txBody>
          <a:bodyPr wrap="square" lIns="0" tIns="0" rIns="0" bIns="0">
            <a:spAutoFit/>
          </a:bodyPr>
          <a:lstStyle/>
          <a:p>
            <a:pPr>
              <a:defRPr sz="2400" b="1">
                <a:solidFill>
                  <a:srgbClr val="06B6D4"/>
                </a:solidFill>
                <a:latin typeface="Arial"/>
              </a:defRPr>
            </a:pPr>
            <a:r>
              <a:t>Interactive Web Dashboard &amp; E2E Verification</a:t>
            </a:r>
          </a:p>
          <a:p>
            <a:pPr>
              <a:spcBef>
                <a:spcPts val="400"/>
              </a:spcBef>
              <a:defRPr sz="1300">
                <a:solidFill>
                  <a:srgbClr val="94A3B8"/>
                </a:solidFill>
                <a:latin typeface="Arial"/>
              </a:defRPr>
            </a:pPr>
            <a:r>
              <a:t>Local React + Vite Web Visualizer (http://localhost:5173/) &amp; Automated Playwright Tests</a:t>
            </a:r>
          </a:p>
        </p:txBody>
      </p:sp>
      <p:sp>
        <p:nvSpPr>
          <p:cNvPr id="3" name="Rounded Rectangle 2"/>
          <p:cNvSpPr/>
          <p:nvPr/>
        </p:nvSpPr>
        <p:spPr>
          <a:xfrm>
            <a:off x="731520" y="1645920"/>
            <a:ext cx="10728655" cy="4389120"/>
          </a:xfrm>
          <a:prstGeom prst="roundRect">
            <a:avLst/>
          </a:prstGeom>
          <a:solidFill>
            <a:srgbClr val="1E293B"/>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828800"/>
            <a:ext cx="10180015" cy="4023360"/>
          </a:xfrm>
          <a:prstGeom prst="rect">
            <a:avLst/>
          </a:prstGeom>
          <a:noFill/>
        </p:spPr>
        <p:txBody>
          <a:bodyPr wrap="square">
            <a:spAutoFit/>
          </a:bodyPr>
          <a:lstStyle/>
          <a:p>
            <a:pPr>
              <a:defRPr sz="1800" b="1">
                <a:solidFill>
                  <a:srgbClr val="06B6D4"/>
                </a:solidFill>
              </a:defRPr>
            </a:pPr>
            <a:r>
              <a:t>🖥️ Key Interactive Dashboard Features</a:t>
            </a:r>
          </a:p>
          <a:p>
            <a:pPr>
              <a:spcBef>
                <a:spcPts val="1000"/>
              </a:spcBef>
              <a:defRPr sz="1300">
                <a:solidFill>
                  <a:srgbClr val="F8FAFC"/>
                </a:solidFill>
              </a:defRPr>
            </a:pPr>
            <a:r>
              <a:t>1. 4PL Curve &amp; S′ Simulator: Real-time curve rendering and metric comparator (S′, IC50, AUC) with presets.</a:t>
            </a:r>
          </a:p>
          <a:p>
            <a:pPr>
              <a:spcBef>
                <a:spcPts val="1000"/>
              </a:spcBef>
              <a:defRPr sz="1300">
                <a:solidFill>
                  <a:srgbClr val="F8FAFC"/>
                </a:solidFill>
              </a:defRPr>
            </a:pPr>
            <a:r>
              <a:t>2. Statistical Control Funnel: Interactive candidate thinning bars for PTEN, CDKN2A, RB1, and TP53.</a:t>
            </a:r>
          </a:p>
          <a:p>
            <a:pPr>
              <a:spcBef>
                <a:spcPts val="1000"/>
              </a:spcBef>
              <a:defRPr sz="1300">
                <a:solidFill>
                  <a:srgbClr val="F8FAFC"/>
                </a:solidFill>
              </a:defRPr>
            </a:pPr>
            <a:r>
              <a:t>3. DEMETER2 RNAi Explorer: Interactive table of RNAi effect sizes and two-sided q-values.</a:t>
            </a:r>
          </a:p>
          <a:p>
            <a:pPr>
              <a:spcBef>
                <a:spcPts val="1000"/>
              </a:spcBef>
              <a:defRPr sz="1300">
                <a:solidFill>
                  <a:srgbClr val="F8FAFC"/>
                </a:solidFill>
              </a:defRPr>
            </a:pPr>
            <a:r>
              <a:t>4. Presentation Slide Deck Player: In-browser 11-slide presentation player with keyboard arrow key listeners.</a:t>
            </a:r>
          </a:p>
          <a:p>
            <a:pPr>
              <a:spcBef>
                <a:spcPts val="1000"/>
              </a:spcBef>
              <a:defRPr sz="1300">
                <a:solidFill>
                  <a:srgbClr val="F8FAFC"/>
                </a:solidFill>
              </a:defRPr>
            </a:pPr>
            <a:r>
              <a:t>5. Playwright E2E Automation: Headless browser script (node verify_ui.js) testing UI controls and numerical accuracies.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0F19"/>
        </a:solidFill>
        <a:effectLst/>
      </p:bgPr>
    </p:bg>
    <p:spTree>
      <p:nvGrpSpPr>
        <p:cNvPr id="1" name=""/>
        <p:cNvGrpSpPr/>
        <p:nvPr/>
      </p:nvGrpSpPr>
      <p:grpSpPr/>
      <p:sp>
        <p:nvSpPr>
          <p:cNvPr id="2" name="TextBox 1"/>
          <p:cNvSpPr txBox="1"/>
          <p:nvPr/>
        </p:nvSpPr>
        <p:spPr>
          <a:xfrm>
            <a:off x="731520" y="457200"/>
            <a:ext cx="10728655" cy="1005840"/>
          </a:xfrm>
          <a:prstGeom prst="rect">
            <a:avLst/>
          </a:prstGeom>
          <a:noFill/>
        </p:spPr>
        <p:txBody>
          <a:bodyPr wrap="square" lIns="0" tIns="0" rIns="0" bIns="0">
            <a:spAutoFit/>
          </a:bodyPr>
          <a:lstStyle/>
          <a:p>
            <a:pPr>
              <a:defRPr sz="2400" b="1">
                <a:solidFill>
                  <a:srgbClr val="06B6D4"/>
                </a:solidFill>
                <a:latin typeface="Arial"/>
              </a:defRPr>
            </a:pPr>
            <a:r>
              <a:t>Final Best Practice Recommendations</a:t>
            </a:r>
          </a:p>
          <a:p>
            <a:pPr>
              <a:spcBef>
                <a:spcPts val="400"/>
              </a:spcBef>
              <a:defRPr sz="1300">
                <a:solidFill>
                  <a:srgbClr val="94A3B8"/>
                </a:solidFill>
                <a:latin typeface="Arial"/>
              </a:defRPr>
            </a:pPr>
            <a:r>
              <a:t>Guidelines for High-Throughput Pharmacogenomic Discovery Pipelines</a:t>
            </a:r>
          </a:p>
        </p:txBody>
      </p:sp>
      <p:sp>
        <p:nvSpPr>
          <p:cNvPr id="3" name="Rounded Rectangle 2"/>
          <p:cNvSpPr/>
          <p:nvPr/>
        </p:nvSpPr>
        <p:spPr>
          <a:xfrm>
            <a:off x="731520" y="1645920"/>
            <a:ext cx="10728655" cy="1280160"/>
          </a:xfrm>
          <a:prstGeom prst="roundRect">
            <a:avLst/>
          </a:prstGeom>
          <a:solidFill>
            <a:srgbClr val="1E293B"/>
          </a:solidFill>
          <a:ln w="12700">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1737360"/>
            <a:ext cx="10180015" cy="1097280"/>
          </a:xfrm>
          <a:prstGeom prst="rect">
            <a:avLst/>
          </a:prstGeom>
          <a:noFill/>
        </p:spPr>
        <p:txBody>
          <a:bodyPr wrap="square">
            <a:spAutoFit/>
          </a:bodyPr>
          <a:lstStyle/>
          <a:p>
            <a:pPr>
              <a:defRPr sz="1600" b="1">
                <a:solidFill>
                  <a:srgbClr val="06B6D4"/>
                </a:solidFill>
              </a:defRPr>
            </a:pPr>
            <a:r>
              <a:t>1. Adopt S′ for Non-Canonical Curves</a:t>
            </a:r>
          </a:p>
          <a:p>
            <a:pPr>
              <a:defRPr sz="1200">
                <a:solidFill>
                  <a:srgbClr val="94A3B8"/>
                </a:solidFill>
              </a:defRPr>
            </a:pPr>
            <a:r>
              <a:t>Use S′ over IC50 or AUC when analyzing high-throughput screens with partial killing or cell proliferation to eliminate missingness.</a:t>
            </a:r>
          </a:p>
        </p:txBody>
      </p:sp>
      <p:sp>
        <p:nvSpPr>
          <p:cNvPr id="5" name="Rounded Rectangle 4"/>
          <p:cNvSpPr/>
          <p:nvPr/>
        </p:nvSpPr>
        <p:spPr>
          <a:xfrm>
            <a:off x="731520" y="3108960"/>
            <a:ext cx="10728655" cy="1280160"/>
          </a:xfrm>
          <a:prstGeom prst="roundRect">
            <a:avLst/>
          </a:prstGeom>
          <a:solidFill>
            <a:srgbClr val="1E293B"/>
          </a:solidFill>
          <a:ln w="12700">
            <a:solidFill>
              <a:srgbClr val="F43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3200400"/>
            <a:ext cx="10180015" cy="1097280"/>
          </a:xfrm>
          <a:prstGeom prst="rect">
            <a:avLst/>
          </a:prstGeom>
          <a:noFill/>
        </p:spPr>
        <p:txBody>
          <a:bodyPr wrap="square">
            <a:spAutoFit/>
          </a:bodyPr>
          <a:lstStyle/>
          <a:p>
            <a:pPr>
              <a:defRPr sz="1600" b="1">
                <a:solidFill>
                  <a:srgbClr val="F43F5E"/>
                </a:solidFill>
              </a:defRPr>
            </a:pPr>
            <a:r>
              <a:t>2. Always Apply Permutation &amp; Bootstrap CI Controls</a:t>
            </a:r>
          </a:p>
          <a:p>
            <a:pPr>
              <a:defRPr sz="1200">
                <a:solidFill>
                  <a:srgbClr val="94A3B8"/>
                </a:solidFill>
              </a:defRPr>
            </a:pPr>
            <a:r>
              <a:t>Never report raw point-estimate cutoff lists without upstream fit-quality filters (|Emax| &gt; 15%), permutation FDRs, and strict bootstrap CI gates.</a:t>
            </a:r>
          </a:p>
        </p:txBody>
      </p:sp>
      <p:sp>
        <p:nvSpPr>
          <p:cNvPr id="7" name="Rounded Rectangle 6"/>
          <p:cNvSpPr/>
          <p:nvPr/>
        </p:nvSpPr>
        <p:spPr>
          <a:xfrm>
            <a:off x="731520" y="4572000"/>
            <a:ext cx="10728655" cy="1280160"/>
          </a:xfrm>
          <a:prstGeom prst="roundRect">
            <a:avLst/>
          </a:prstGeom>
          <a:solidFill>
            <a:srgbClr val="1E293B"/>
          </a:solidFill>
          <a:ln w="12700">
            <a:solidFill>
              <a:srgbClr val="8B5CF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4663440"/>
            <a:ext cx="10180015" cy="1097280"/>
          </a:xfrm>
          <a:prstGeom prst="rect">
            <a:avLst/>
          </a:prstGeom>
          <a:noFill/>
        </p:spPr>
        <p:txBody>
          <a:bodyPr wrap="square">
            <a:spAutoFit/>
          </a:bodyPr>
          <a:lstStyle/>
          <a:p>
            <a:pPr>
              <a:defRPr sz="1600" b="1">
                <a:solidFill>
                  <a:srgbClr val="8B5CF6"/>
                </a:solidFill>
              </a:defRPr>
            </a:pPr>
            <a:r>
              <a:t>3. Transition to Linear Mixed Models (LMM)</a:t>
            </a:r>
          </a:p>
          <a:p>
            <a:pPr>
              <a:defRPr sz="1200">
                <a:solidFill>
                  <a:srgbClr val="94A3B8"/>
                </a:solidFill>
              </a:defRPr>
            </a:pPr>
            <a:r>
              <a:t>Move from raw cohort mean differences to Linear Mixed Models with cell-line random effects to control for baseline sensitivity and co-occurring mutations simultaneously.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